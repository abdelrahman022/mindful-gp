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activeX/activeX1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8288000" cy="10287000"/>
  <p:notesSz cx="6858000" cy="9144000"/>
  <p:embeddedFontLst>
    <p:embeddedFont>
      <p:font typeface="Meiryo" panose="020B0604030504040204" pitchFamily="34" charset="-128"/>
      <p:regular r:id="rId24"/>
      <p:bold r:id="rId25"/>
      <p:italic r:id="rId26"/>
      <p:boldItalic r:id="rId27"/>
    </p:embeddedFont>
    <p:embeddedFont>
      <p:font typeface="Arial Bold" panose="020B0704020202020204" pitchFamily="34" charset="0"/>
      <p:regular r:id="rId28"/>
      <p:bold r:id="rId29"/>
    </p:embeddedFont>
    <p:embeddedFont>
      <p:font typeface="Canva Sans" panose="020B0604020202020204" charset="0"/>
      <p:regular r:id="rId30"/>
    </p:embeddedFont>
    <p:embeddedFont>
      <p:font typeface="Canva Sans Bold" panose="020B0604020202020204" charset="0"/>
      <p:regular r:id="rId31"/>
    </p:embeddedFont>
    <p:embeddedFont>
      <p:font typeface="Open Sans Bold" panose="020B0604020202020204" charset="0"/>
      <p:regular r:id="rId32"/>
    </p:embeddedFont>
    <p:embeddedFont>
      <p:font typeface="TT Hoves" panose="020B0604020202020204" charset="0"/>
      <p:regular r:id="rId33"/>
    </p:embeddedFont>
    <p:embeddedFont>
      <p:font typeface="TT Hoves Bold" panose="020B0604020202020204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54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/Relationships>
</file>

<file path=ppt/activeX/activeX1.xml><?xml version="1.0" encoding="utf-8"?>
<ax:ocx xmlns:ax="http://schemas.microsoft.com/office/2006/activeX" xmlns:r="http://schemas.openxmlformats.org/officeDocument/2006/relationships" ax:classid="{6BF52A52-394A-11D3-B153-00C04F79FAA6}" ax:persistence="persistPropertyBag">
  <ax:ocxPr ax:name="URL" ax:value="C:\Users\HandaZa\Downloads\Video\Mindful - Google Chrome 2025-06-08 02-40-56.mp4"/>
  <ax:ocxPr ax:name="rate" ax:value="2"/>
  <ax:ocxPr ax:name="balance" ax:value="0"/>
  <ax:ocxPr ax:name="currentPosition" ax:value="0"/>
  <ax:ocxPr ax:name="defaultFrame" ax:value=""/>
  <ax:ocxPr ax:name="playCount" ax:value="1"/>
  <ax:ocxPr ax:name="autoStart" ax:value="-1"/>
  <ax:ocxPr ax:name="currentMarker" ax:value="0"/>
  <ax:ocxPr ax:name="invokeURLs" ax:value="-1"/>
  <ax:ocxPr ax:name="baseURL" ax:value=""/>
  <ax:ocxPr ax:name="volume" ax:value="100"/>
  <ax:ocxPr ax:name="mute" ax:value="0"/>
  <ax:ocxPr ax:name="uiMode" ax:value="full"/>
  <ax:ocxPr ax:name="stretchToFit" ax:value="0"/>
  <ax:ocxPr ax:name="windowlessVideo" ax:value="0"/>
  <ax:ocxPr ax:name="enabled" ax:value="-1"/>
  <ax:ocxPr ax:name="enableContextMenu" ax:value="-1"/>
  <ax:ocxPr ax:name="fullScreen" ax:value="0"/>
  <ax:ocxPr ax:name="SAMIStyle" ax:value=""/>
  <ax:ocxPr ax:name="SAMILang" ax:value=""/>
  <ax:ocxPr ax:name="SAMIFilename" ax:value=""/>
  <ax:ocxPr ax:name="captioningID" ax:value=""/>
  <ax:ocxPr ax:name="enableErrorDialogs" ax:value="0"/>
  <ax:ocxPr ax:name="_cx" ax:value="45085"/>
  <ax:ocxPr ax:name="_cy" ax:value="22119"/>
</ax:ocx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slide" Target="slide2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slideLayout" Target="../slideLayouts/slideLayout7.xml"/><Relationship Id="rId1" Type="http://schemas.openxmlformats.org/officeDocument/2006/relationships/control" Target="../activeX/activeX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2214782923000374" TargetMode="External"/><Relationship Id="rId13" Type="http://schemas.openxmlformats.org/officeDocument/2006/relationships/hyperlink" Target="https://ieeexplore.ieee.org/document/10815693" TargetMode="External"/><Relationship Id="rId3" Type="http://schemas.openxmlformats.org/officeDocument/2006/relationships/hyperlink" Target="https://www.firstsession.com/resources/betterhelp-reviews-survey-results" TargetMode="External"/><Relationship Id="rId7" Type="http://schemas.openxmlformats.org/officeDocument/2006/relationships/hyperlink" Target="https://www.businesswire.com/news/home/20231026083262/en/First-Randomized-Controlled-Trial-Comparing-Woebot-to-Clinician-Led-Psychotherapy-Reveals-Digital-Mental-Health-Intervention-Is-Non-Inferior-in-Reducing-Depressive-Symptoms-Among-Teens" TargetMode="External"/><Relationship Id="rId12" Type="http://schemas.openxmlformats.org/officeDocument/2006/relationships/hyperlink" Target="https://www.researchgate.net/publication/381931623_Retrieval_Augmented_Generation_for_10_Large_Language_Models_and_its_Generalizability_in_Assessing_Medical_Fitness" TargetMode="External"/><Relationship Id="rId2" Type="http://schemas.openxmlformats.org/officeDocument/2006/relationships/hyperlink" Target="https://www.businesswire.com/news/home/20250122456222/en/BetterHelp-Surpasses-5-Million-People-Benefiting-from-Online-Therapy-Servic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oebothealth.com/ais-ability-to-address-gaps/" TargetMode="External"/><Relationship Id="rId11" Type="http://schemas.openxmlformats.org/officeDocument/2006/relationships/hyperlink" Target="https://www.academia.edu/92091604/Predicting_Anxiety_Depression_and_Stress_in_Modern_Life_using_Machine_Learning_Algorithms?nav_from=c8e5cf39-f82f-4155-8453-e0d661ebeada" TargetMode="External"/><Relationship Id="rId5" Type="http://schemas.openxmlformats.org/officeDocument/2006/relationships/hyperlink" Target="https://ent.news/2025/4/1805.pdf" TargetMode="External"/><Relationship Id="rId10" Type="http://schemas.openxmlformats.org/officeDocument/2006/relationships/hyperlink" Target="https://www.academia.edu/107403197/Mental_Illness_Prediction_using_Machine_Learning_Algorithms&amp;nav_from=ccf3123e-4deb-4ab5-b6f6-9addedeb5547&amp;rw_pos=undefined" TargetMode="External"/><Relationship Id="rId4" Type="http://schemas.openxmlformats.org/officeDocument/2006/relationships/hyperlink" Target="https://anulikajoy.com/shezlong" TargetMode="External"/><Relationship Id="rId9" Type="http://schemas.openxmlformats.org/officeDocument/2006/relationships/hyperlink" Target="https://www.academia.edu/94614967/Mental_Health_Prediction_Using_Machine_Learning?email_work_card=titl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ouvikahmed071/social-media-and-mental-health" TargetMode="External"/><Relationship Id="rId2" Type="http://schemas.openxmlformats.org/officeDocument/2006/relationships/hyperlink" Target="https://www.kaggle.com/datasets/muhammadshahidazeem/panic-disorder-detection-datase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huggingface.co/datasets/Amod/mental_health_counseling_conversations" TargetMode="External"/><Relationship Id="rId4" Type="http://schemas.openxmlformats.org/officeDocument/2006/relationships/hyperlink" Target="https://www.kaggle.com/datasets/natezhang123/social-anxiety-dataset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CED0D-EEB5-96CE-BF3A-7F9282D9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950AD4C-6AF3-49F8-94E1-DBCAFB394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D967F3CD-B7D5-4CD4-B546-13C8A8F61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3009" y="0"/>
            <a:ext cx="3729483" cy="10287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9528C64-B611-4A0E-AED3-355EAA4E2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62852" y="0"/>
            <a:ext cx="3729483" cy="10287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" name="Picture 2" descr="A logo with blue text&#10;&#10;AI-generated content may be incorrect.">
            <a:extLst>
              <a:ext uri="{FF2B5EF4-FFF2-40B4-BE49-F238E27FC236}">
                <a16:creationId xmlns:a16="http://schemas.microsoft.com/office/drawing/2014/main" id="{0772E2D3-7751-E2DE-B743-970997E5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"/>
          <a:stretch>
            <a:fillRect/>
          </a:stretch>
        </p:blipFill>
        <p:spPr>
          <a:xfrm>
            <a:off x="1451779" y="10"/>
            <a:ext cx="15384441" cy="10286990"/>
          </a:xfrm>
          <a:custGeom>
            <a:avLst/>
            <a:gdLst/>
            <a:ahLst/>
            <a:cxnLst/>
            <a:rect l="l" t="t" r="r" b="b"/>
            <a:pathLst>
              <a:path w="10256294" h="6858000">
                <a:moveTo>
                  <a:pt x="1691450" y="0"/>
                </a:moveTo>
                <a:lnTo>
                  <a:pt x="4470259" y="0"/>
                </a:lnTo>
                <a:lnTo>
                  <a:pt x="4542814" y="0"/>
                </a:lnTo>
                <a:lnTo>
                  <a:pt x="5713480" y="0"/>
                </a:lnTo>
                <a:lnTo>
                  <a:pt x="5786036" y="0"/>
                </a:lnTo>
                <a:lnTo>
                  <a:pt x="8564844" y="0"/>
                </a:lnTo>
                <a:lnTo>
                  <a:pt x="8587900" y="14997"/>
                </a:lnTo>
                <a:cubicBezTo>
                  <a:pt x="9658369" y="754641"/>
                  <a:pt x="10256294" y="2093192"/>
                  <a:pt x="10256294" y="3621656"/>
                </a:cubicBezTo>
                <a:cubicBezTo>
                  <a:pt x="10256294" y="4969131"/>
                  <a:pt x="9288413" y="5602839"/>
                  <a:pt x="8302921" y="6374814"/>
                </a:cubicBezTo>
                <a:cubicBezTo>
                  <a:pt x="8123457" y="6515397"/>
                  <a:pt x="7945637" y="6653108"/>
                  <a:pt x="7764491" y="6780599"/>
                </a:cubicBezTo>
                <a:lnTo>
                  <a:pt x="7648023" y="6858000"/>
                </a:lnTo>
                <a:lnTo>
                  <a:pt x="5786036" y="6858000"/>
                </a:lnTo>
                <a:lnTo>
                  <a:pt x="5713480" y="6858000"/>
                </a:lnTo>
                <a:lnTo>
                  <a:pt x="4542814" y="6858000"/>
                </a:lnTo>
                <a:lnTo>
                  <a:pt x="4470259" y="6858000"/>
                </a:lnTo>
                <a:lnTo>
                  <a:pt x="2608272" y="6858000"/>
                </a:lnTo>
                <a:lnTo>
                  <a:pt x="2491804" y="6780599"/>
                </a:lnTo>
                <a:cubicBezTo>
                  <a:pt x="2310658" y="6653108"/>
                  <a:pt x="2132837" y="6515397"/>
                  <a:pt x="1953374" y="6374814"/>
                </a:cubicBezTo>
                <a:cubicBezTo>
                  <a:pt x="967880" y="5602839"/>
                  <a:pt x="0" y="4969131"/>
                  <a:pt x="0" y="3621656"/>
                </a:cubicBezTo>
                <a:cubicBezTo>
                  <a:pt x="0" y="2093192"/>
                  <a:pt x="597925" y="754641"/>
                  <a:pt x="1668394" y="14997"/>
                </a:cubicBezTo>
                <a:close/>
              </a:path>
            </a:pathLst>
          </a:cu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9479A80B-8CA9-4EA1-9408-D2A7B0466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451779" y="0"/>
            <a:ext cx="15384441" cy="10287000"/>
          </a:xfrm>
          <a:custGeom>
            <a:avLst/>
            <a:gdLst>
              <a:gd name="connsiteX0" fmla="*/ 1910015 w 10256294"/>
              <a:gd name="connsiteY0" fmla="*/ 0 h 6858000"/>
              <a:gd name="connsiteX1" fmla="*/ 1691450 w 10256294"/>
              <a:gd name="connsiteY1" fmla="*/ 0 h 6858000"/>
              <a:gd name="connsiteX2" fmla="*/ 1668394 w 10256294"/>
              <a:gd name="connsiteY2" fmla="*/ 14997 h 6858000"/>
              <a:gd name="connsiteX3" fmla="*/ 0 w 10256294"/>
              <a:gd name="connsiteY3" fmla="*/ 3621656 h 6858000"/>
              <a:gd name="connsiteX4" fmla="*/ 1953374 w 10256294"/>
              <a:gd name="connsiteY4" fmla="*/ 6374814 h 6858000"/>
              <a:gd name="connsiteX5" fmla="*/ 2491804 w 10256294"/>
              <a:gd name="connsiteY5" fmla="*/ 6780599 h 6858000"/>
              <a:gd name="connsiteX6" fmla="*/ 2608271 w 10256294"/>
              <a:gd name="connsiteY6" fmla="*/ 6858000 h 6858000"/>
              <a:gd name="connsiteX7" fmla="*/ 2864721 w 10256294"/>
              <a:gd name="connsiteY7" fmla="*/ 6858000 h 6858000"/>
              <a:gd name="connsiteX8" fmla="*/ 2743439 w 10256294"/>
              <a:gd name="connsiteY8" fmla="*/ 6780599 h 6858000"/>
              <a:gd name="connsiteX9" fmla="*/ 2182760 w 10256294"/>
              <a:gd name="connsiteY9" fmla="*/ 6374814 h 6858000"/>
              <a:gd name="connsiteX10" fmla="*/ 148672 w 10256294"/>
              <a:gd name="connsiteY10" fmla="*/ 3621656 h 6858000"/>
              <a:gd name="connsiteX11" fmla="*/ 1886006 w 10256294"/>
              <a:gd name="connsiteY11" fmla="*/ 14997 h 6858000"/>
              <a:gd name="connsiteX12" fmla="*/ 8564844 w 10256294"/>
              <a:gd name="connsiteY12" fmla="*/ 0 h 6858000"/>
              <a:gd name="connsiteX13" fmla="*/ 8346278 w 10256294"/>
              <a:gd name="connsiteY13" fmla="*/ 0 h 6858000"/>
              <a:gd name="connsiteX14" fmla="*/ 8370288 w 10256294"/>
              <a:gd name="connsiteY14" fmla="*/ 14997 h 6858000"/>
              <a:gd name="connsiteX15" fmla="*/ 10107622 w 10256294"/>
              <a:gd name="connsiteY15" fmla="*/ 3621656 h 6858000"/>
              <a:gd name="connsiteX16" fmla="*/ 8073532 w 10256294"/>
              <a:gd name="connsiteY16" fmla="*/ 6374814 h 6858000"/>
              <a:gd name="connsiteX17" fmla="*/ 7512854 w 10256294"/>
              <a:gd name="connsiteY17" fmla="*/ 6780599 h 6858000"/>
              <a:gd name="connsiteX18" fmla="*/ 7391575 w 10256294"/>
              <a:gd name="connsiteY18" fmla="*/ 6858000 h 6858000"/>
              <a:gd name="connsiteX19" fmla="*/ 7648023 w 10256294"/>
              <a:gd name="connsiteY19" fmla="*/ 6858000 h 6858000"/>
              <a:gd name="connsiteX20" fmla="*/ 7764490 w 10256294"/>
              <a:gd name="connsiteY20" fmla="*/ 6780599 h 6858000"/>
              <a:gd name="connsiteX21" fmla="*/ 8302920 w 10256294"/>
              <a:gd name="connsiteY21" fmla="*/ 6374814 h 6858000"/>
              <a:gd name="connsiteX22" fmla="*/ 10256294 w 10256294"/>
              <a:gd name="connsiteY22" fmla="*/ 3621656 h 6858000"/>
              <a:gd name="connsiteX23" fmla="*/ 8587900 w 1025629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256294" h="6858000">
                <a:moveTo>
                  <a:pt x="1910015" y="0"/>
                </a:moveTo>
                <a:lnTo>
                  <a:pt x="1691450" y="0"/>
                </a:lnTo>
                <a:lnTo>
                  <a:pt x="1668394" y="14997"/>
                </a:lnTo>
                <a:cubicBezTo>
                  <a:pt x="597925" y="754641"/>
                  <a:pt x="0" y="2093192"/>
                  <a:pt x="0" y="3621656"/>
                </a:cubicBezTo>
                <a:cubicBezTo>
                  <a:pt x="0" y="4969131"/>
                  <a:pt x="967880" y="5602839"/>
                  <a:pt x="1953374" y="6374814"/>
                </a:cubicBezTo>
                <a:cubicBezTo>
                  <a:pt x="2132836" y="6515397"/>
                  <a:pt x="2310657" y="6653108"/>
                  <a:pt x="2491804" y="6780599"/>
                </a:cubicBezTo>
                <a:lnTo>
                  <a:pt x="2608271" y="6858000"/>
                </a:lnTo>
                <a:lnTo>
                  <a:pt x="2864721" y="6858000"/>
                </a:lnTo>
                <a:lnTo>
                  <a:pt x="2743439" y="6780599"/>
                </a:lnTo>
                <a:cubicBezTo>
                  <a:pt x="2554808" y="6653108"/>
                  <a:pt x="2369639" y="6515397"/>
                  <a:pt x="2182760" y="6374814"/>
                </a:cubicBezTo>
                <a:cubicBezTo>
                  <a:pt x="1156547" y="5602839"/>
                  <a:pt x="148672" y="4969131"/>
                  <a:pt x="148672" y="3621656"/>
                </a:cubicBezTo>
                <a:cubicBezTo>
                  <a:pt x="148672" y="2093192"/>
                  <a:pt x="771304" y="754641"/>
                  <a:pt x="1886006" y="14997"/>
                </a:cubicBezTo>
                <a:close/>
                <a:moveTo>
                  <a:pt x="8564844" y="0"/>
                </a:moveTo>
                <a:lnTo>
                  <a:pt x="8346278" y="0"/>
                </a:lnTo>
                <a:lnTo>
                  <a:pt x="8370288" y="14997"/>
                </a:lnTo>
                <a:cubicBezTo>
                  <a:pt x="9484990" y="754641"/>
                  <a:pt x="10107622" y="2093192"/>
                  <a:pt x="10107622" y="3621656"/>
                </a:cubicBezTo>
                <a:cubicBezTo>
                  <a:pt x="10107622" y="4969131"/>
                  <a:pt x="9099748" y="5602839"/>
                  <a:pt x="8073532" y="6374814"/>
                </a:cubicBezTo>
                <a:cubicBezTo>
                  <a:pt x="7886654" y="6515397"/>
                  <a:pt x="7701485" y="6653108"/>
                  <a:pt x="7512854" y="6780599"/>
                </a:cubicBezTo>
                <a:lnTo>
                  <a:pt x="7391575" y="6858000"/>
                </a:lnTo>
                <a:lnTo>
                  <a:pt x="7648023" y="6858000"/>
                </a:lnTo>
                <a:lnTo>
                  <a:pt x="7764490" y="6780599"/>
                </a:lnTo>
                <a:cubicBezTo>
                  <a:pt x="7945636" y="6653108"/>
                  <a:pt x="8123457" y="6515397"/>
                  <a:pt x="8302920" y="6374814"/>
                </a:cubicBezTo>
                <a:cubicBezTo>
                  <a:pt x="9288414" y="5602839"/>
                  <a:pt x="10256294" y="4969131"/>
                  <a:pt x="10256294" y="3621656"/>
                </a:cubicBezTo>
                <a:cubicBezTo>
                  <a:pt x="10256294" y="2093192"/>
                  <a:pt x="9658369" y="754641"/>
                  <a:pt x="8587900" y="14997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071D3ED-1901-742B-6C97-DB8C71C3D504}"/>
              </a:ext>
            </a:extLst>
          </p:cNvPr>
          <p:cNvSpPr txBox="1"/>
          <p:nvPr/>
        </p:nvSpPr>
        <p:spPr>
          <a:xfrm>
            <a:off x="-696258" y="-667519"/>
            <a:ext cx="19680517" cy="192148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3639"/>
              </a:lnSpc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761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46">
        <p159:morph option="byObject"/>
      </p:transition>
    </mc:Choice>
    <mc:Fallback xmlns="">
      <p:transition spd="slow" advTm="846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366043" y="101040"/>
            <a:ext cx="11221859" cy="11221859"/>
          </a:xfrm>
          <a:custGeom>
            <a:avLst/>
            <a:gdLst/>
            <a:ahLst/>
            <a:cxnLst/>
            <a:rect l="l" t="t" r="r" b="b"/>
            <a:pathLst>
              <a:path w="11221859" h="11221859">
                <a:moveTo>
                  <a:pt x="0" y="0"/>
                </a:moveTo>
                <a:lnTo>
                  <a:pt x="11221858" y="0"/>
                </a:lnTo>
                <a:lnTo>
                  <a:pt x="11221858" y="11221858"/>
                </a:lnTo>
                <a:lnTo>
                  <a:pt x="0" y="112218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9724088" y="1253964"/>
            <a:ext cx="9260170" cy="9543125"/>
          </a:xfrm>
          <a:custGeom>
            <a:avLst/>
            <a:gdLst/>
            <a:ahLst/>
            <a:cxnLst/>
            <a:rect l="l" t="t" r="r" b="b"/>
            <a:pathLst>
              <a:path w="9260170" h="9543125">
                <a:moveTo>
                  <a:pt x="0" y="0"/>
                </a:moveTo>
                <a:lnTo>
                  <a:pt x="9260170" y="0"/>
                </a:lnTo>
                <a:lnTo>
                  <a:pt x="9260170" y="9543125"/>
                </a:lnTo>
                <a:lnTo>
                  <a:pt x="0" y="95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882" b="-688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961342" y="-607108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7" y="0"/>
                </a:lnTo>
                <a:lnTo>
                  <a:pt x="5750607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141979" y="344568"/>
            <a:ext cx="3117321" cy="42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2025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4568"/>
            <a:ext cx="3117321" cy="42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Graduation Project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85339" y="344568"/>
            <a:ext cx="3117321" cy="42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MindFul</a:t>
            </a:r>
            <a:endParaRPr lang="en-US" sz="2599" dirty="0">
              <a:solidFill>
                <a:srgbClr val="191315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484590" y="344568"/>
            <a:ext cx="1406261" cy="42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chemeClr val="bg1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30761" y="344568"/>
            <a:ext cx="1406261" cy="42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chemeClr val="bg1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913961" y="4473162"/>
            <a:ext cx="10910396" cy="2616999"/>
            <a:chOff x="0" y="314325"/>
            <a:chExt cx="14547195" cy="348933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314325"/>
              <a:ext cx="14547195" cy="23153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218"/>
                </a:lnSpc>
              </a:pPr>
              <a:r>
                <a:rPr lang="en-US" sz="12998" b="1" spc="-636" dirty="0">
                  <a:solidFill>
                    <a:srgbClr val="84B572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MindFul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13235" y="2332570"/>
              <a:ext cx="5994231" cy="147108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1" indent="0" algn="l">
                <a:lnSpc>
                  <a:spcPts val="8460"/>
                </a:lnSpc>
                <a:spcBef>
                  <a:spcPct val="0"/>
                </a:spcBef>
              </a:pPr>
              <a:r>
                <a:rPr lang="en-US" sz="9000" b="1" u="none" strike="noStrike" spc="-441" dirty="0">
                  <a:solidFill>
                    <a:srgbClr val="84B572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Website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61271" y="7498510"/>
            <a:ext cx="4620529" cy="2788490"/>
            <a:chOff x="0" y="0"/>
            <a:chExt cx="5877719" cy="3717987"/>
          </a:xfrm>
        </p:grpSpPr>
        <p:sp>
          <p:nvSpPr>
            <p:cNvPr id="17" name="TextBox 17"/>
            <p:cNvSpPr txBox="1"/>
            <p:nvPr/>
          </p:nvSpPr>
          <p:spPr>
            <a:xfrm>
              <a:off x="883177" y="-57150"/>
              <a:ext cx="3526314" cy="666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 b="1" dirty="0">
                  <a:solidFill>
                    <a:srgbClr val="84B5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Supervised by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17637"/>
              <a:ext cx="5877719" cy="2800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200"/>
                </a:lnSpc>
              </a:pPr>
              <a:r>
                <a:rPr lang="en-US" sz="3000" b="1" dirty="0">
                  <a:solidFill>
                    <a:srgbClr val="84B5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Dr. Rodaina Abdelsalam</a:t>
              </a:r>
            </a:p>
            <a:p>
              <a:pPr algn="ctr">
                <a:lnSpc>
                  <a:spcPts val="4200"/>
                </a:lnSpc>
              </a:pPr>
              <a:r>
                <a:rPr lang="en-US" sz="3000" b="1" dirty="0">
                  <a:solidFill>
                    <a:srgbClr val="84B572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Eng. Martina Girgis</a:t>
              </a:r>
            </a:p>
            <a:p>
              <a:pPr algn="just">
                <a:lnSpc>
                  <a:spcPts val="4200"/>
                </a:lnSpc>
              </a:pPr>
              <a:endParaRPr lang="en-US" sz="3000" b="1" dirty="0">
                <a:solidFill>
                  <a:srgbClr val="84B572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just">
                <a:lnSpc>
                  <a:spcPts val="4200"/>
                </a:lnSpc>
              </a:pPr>
              <a:endParaRPr lang="en-US" sz="3000" b="1" dirty="0">
                <a:solidFill>
                  <a:srgbClr val="84B572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35">
        <p14:ferris dir="r"/>
      </p:transition>
    </mc:Choice>
    <mc:Fallback>
      <p:transition spd="slow" advTm="303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520320" y="1469375"/>
            <a:ext cx="11247359" cy="7995850"/>
          </a:xfrm>
          <a:custGeom>
            <a:avLst/>
            <a:gdLst/>
            <a:ahLst/>
            <a:cxnLst/>
            <a:rect l="l" t="t" r="r" b="b"/>
            <a:pathLst>
              <a:path w="11247359" h="7995850">
                <a:moveTo>
                  <a:pt x="11247360" y="0"/>
                </a:moveTo>
                <a:lnTo>
                  <a:pt x="0" y="0"/>
                </a:lnTo>
                <a:lnTo>
                  <a:pt x="0" y="7995850"/>
                </a:lnTo>
                <a:lnTo>
                  <a:pt x="11247360" y="7995850"/>
                </a:lnTo>
                <a:lnTo>
                  <a:pt x="1124736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923" y="-1405929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647708" y="3004182"/>
            <a:ext cx="8992584" cy="598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3"/>
              </a:lnSpc>
            </a:pPr>
            <a:r>
              <a:rPr lang="en-US" sz="2573" dirty="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MindFul addresses the critical need for accessible and destigmatized mental health support, particularly in Egypt. With approximately 1 in 8 people globally experiencing mental health disorders, this platform aims to bridge the gap in mental health care by providing comprehensive resources and fostering a supportive community. It leverages AI-powered psychological tests, an AI-driven chatbot using Retrieval-Augmented Generation (RAG) with the Mixtral-8x7B-Instruct-v0.1 model, a section for sharing personal stories, and a directory of licensed mental health professionals. The platform is built with React, HTML, CSS, JavaScript for the frontend, and Node.js, Express.js, and MongoDB for the backend.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31141" y="1769306"/>
            <a:ext cx="5225718" cy="117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449" b="1" spc="-365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Abstract</a:t>
            </a:r>
          </a:p>
        </p:txBody>
      </p:sp>
    </p:spTree>
    <p:custDataLst>
      <p:tags r:id="rId1"/>
    </p:custDataLst>
  </p:cSld>
  <p:clrMapOvr>
    <a:masterClrMapping/>
  </p:clrMapOvr>
  <p:transition spd="slow" advTm="1537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4049319" y="4942317"/>
            <a:ext cx="762135" cy="453377"/>
            <a:chOff x="0" y="0"/>
            <a:chExt cx="68316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11710812" y="6104386"/>
            <a:ext cx="762135" cy="453377"/>
            <a:chOff x="0" y="0"/>
            <a:chExt cx="683165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033007" y="3664667"/>
            <a:ext cx="762135" cy="453377"/>
            <a:chOff x="0" y="0"/>
            <a:chExt cx="683165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710812" y="3664667"/>
            <a:ext cx="762135" cy="453377"/>
            <a:chOff x="0" y="0"/>
            <a:chExt cx="683165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419787" y="3436191"/>
            <a:ext cx="3271567" cy="995040"/>
            <a:chOff x="0" y="0"/>
            <a:chExt cx="1501524" cy="4566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01525" cy="456685"/>
            </a:xfrm>
            <a:custGeom>
              <a:avLst/>
              <a:gdLst/>
              <a:ahLst/>
              <a:cxnLst/>
              <a:rect l="l" t="t" r="r" b="b"/>
              <a:pathLst>
                <a:path w="1501525" h="456685">
                  <a:moveTo>
                    <a:pt x="141986" y="0"/>
                  </a:moveTo>
                  <a:lnTo>
                    <a:pt x="1359539" y="0"/>
                  </a:lnTo>
                  <a:cubicBezTo>
                    <a:pt x="1397196" y="0"/>
                    <a:pt x="1433310" y="14959"/>
                    <a:pt x="1459938" y="41587"/>
                  </a:cubicBezTo>
                  <a:cubicBezTo>
                    <a:pt x="1486565" y="68214"/>
                    <a:pt x="1501525" y="104329"/>
                    <a:pt x="1501525" y="141986"/>
                  </a:cubicBezTo>
                  <a:lnTo>
                    <a:pt x="1501525" y="314700"/>
                  </a:lnTo>
                  <a:cubicBezTo>
                    <a:pt x="1501525" y="393116"/>
                    <a:pt x="1437955" y="456685"/>
                    <a:pt x="1359539" y="456685"/>
                  </a:cubicBezTo>
                  <a:lnTo>
                    <a:pt x="141986" y="456685"/>
                  </a:lnTo>
                  <a:cubicBezTo>
                    <a:pt x="63569" y="456685"/>
                    <a:pt x="0" y="393116"/>
                    <a:pt x="0" y="314700"/>
                  </a:cubicBezTo>
                  <a:lnTo>
                    <a:pt x="0" y="141986"/>
                  </a:lnTo>
                  <a:cubicBezTo>
                    <a:pt x="0" y="63569"/>
                    <a:pt x="63569" y="0"/>
                    <a:pt x="141986" y="0"/>
                  </a:cubicBez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04775"/>
              <a:ext cx="1501524" cy="351910"/>
            </a:xfrm>
            <a:prstGeom prst="rect">
              <a:avLst/>
            </a:prstGeom>
          </p:spPr>
          <p:txBody>
            <a:bodyPr lIns="37053" tIns="37053" rIns="37053" bIns="37053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8691446" y="3762768"/>
            <a:ext cx="1253346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b="1" spc="-2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19174" y="3667518"/>
            <a:ext cx="141022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74"/>
              </a:lnSpc>
              <a:spcBef>
                <a:spcPct val="0"/>
              </a:spcBef>
            </a:pPr>
            <a:r>
              <a:rPr lang="en-US" sz="2499" b="1" spc="3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138042" y="3425311"/>
            <a:ext cx="3271567" cy="995040"/>
            <a:chOff x="0" y="0"/>
            <a:chExt cx="1501524" cy="45668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501525" cy="456685"/>
            </a:xfrm>
            <a:custGeom>
              <a:avLst/>
              <a:gdLst/>
              <a:ahLst/>
              <a:cxnLst/>
              <a:rect l="l" t="t" r="r" b="b"/>
              <a:pathLst>
                <a:path w="1501525" h="456685">
                  <a:moveTo>
                    <a:pt x="141986" y="0"/>
                  </a:moveTo>
                  <a:lnTo>
                    <a:pt x="1359539" y="0"/>
                  </a:lnTo>
                  <a:cubicBezTo>
                    <a:pt x="1397196" y="0"/>
                    <a:pt x="1433310" y="14959"/>
                    <a:pt x="1459938" y="41587"/>
                  </a:cubicBezTo>
                  <a:cubicBezTo>
                    <a:pt x="1486565" y="68214"/>
                    <a:pt x="1501525" y="104329"/>
                    <a:pt x="1501525" y="141986"/>
                  </a:cubicBezTo>
                  <a:lnTo>
                    <a:pt x="1501525" y="314700"/>
                  </a:lnTo>
                  <a:cubicBezTo>
                    <a:pt x="1501525" y="393116"/>
                    <a:pt x="1437955" y="456685"/>
                    <a:pt x="1359539" y="456685"/>
                  </a:cubicBezTo>
                  <a:lnTo>
                    <a:pt x="141986" y="456685"/>
                  </a:lnTo>
                  <a:cubicBezTo>
                    <a:pt x="63569" y="456685"/>
                    <a:pt x="0" y="393116"/>
                    <a:pt x="0" y="314700"/>
                  </a:cubicBezTo>
                  <a:lnTo>
                    <a:pt x="0" y="141986"/>
                  </a:lnTo>
                  <a:cubicBezTo>
                    <a:pt x="0" y="63569"/>
                    <a:pt x="63569" y="0"/>
                    <a:pt x="141986" y="0"/>
                  </a:cubicBez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104775"/>
              <a:ext cx="1501524" cy="351910"/>
            </a:xfrm>
            <a:prstGeom prst="rect">
              <a:avLst/>
            </a:prstGeom>
          </p:spPr>
          <p:txBody>
            <a:bodyPr lIns="37053" tIns="37053" rIns="37053" bIns="37053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15847" y="3436191"/>
            <a:ext cx="3271567" cy="995040"/>
            <a:chOff x="0" y="0"/>
            <a:chExt cx="1501524" cy="4566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01525" cy="456685"/>
            </a:xfrm>
            <a:custGeom>
              <a:avLst/>
              <a:gdLst/>
              <a:ahLst/>
              <a:cxnLst/>
              <a:rect l="l" t="t" r="r" b="b"/>
              <a:pathLst>
                <a:path w="1501525" h="456685">
                  <a:moveTo>
                    <a:pt x="141986" y="0"/>
                  </a:moveTo>
                  <a:lnTo>
                    <a:pt x="1359539" y="0"/>
                  </a:lnTo>
                  <a:cubicBezTo>
                    <a:pt x="1397196" y="0"/>
                    <a:pt x="1433310" y="14959"/>
                    <a:pt x="1459938" y="41587"/>
                  </a:cubicBezTo>
                  <a:cubicBezTo>
                    <a:pt x="1486565" y="68214"/>
                    <a:pt x="1501525" y="104329"/>
                    <a:pt x="1501525" y="141986"/>
                  </a:cubicBezTo>
                  <a:lnTo>
                    <a:pt x="1501525" y="314700"/>
                  </a:lnTo>
                  <a:cubicBezTo>
                    <a:pt x="1501525" y="393116"/>
                    <a:pt x="1437955" y="456685"/>
                    <a:pt x="1359539" y="456685"/>
                  </a:cubicBezTo>
                  <a:lnTo>
                    <a:pt x="141986" y="456685"/>
                  </a:lnTo>
                  <a:cubicBezTo>
                    <a:pt x="63569" y="456685"/>
                    <a:pt x="0" y="393116"/>
                    <a:pt x="0" y="314700"/>
                  </a:cubicBezTo>
                  <a:lnTo>
                    <a:pt x="0" y="141986"/>
                  </a:lnTo>
                  <a:cubicBezTo>
                    <a:pt x="0" y="63569"/>
                    <a:pt x="63569" y="0"/>
                    <a:pt x="141986" y="0"/>
                  </a:cubicBez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04775"/>
              <a:ext cx="1501524" cy="351910"/>
            </a:xfrm>
            <a:prstGeom prst="rect">
              <a:avLst/>
            </a:prstGeom>
          </p:spPr>
          <p:txBody>
            <a:bodyPr lIns="37053" tIns="37053" rIns="37053" bIns="37053" rtlCol="0" anchor="ctr"/>
            <a:lstStyle/>
            <a:p>
              <a:pPr algn="ctr">
                <a:lnSpc>
                  <a:spcPts val="1925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-10800000">
            <a:off x="7033007" y="6104386"/>
            <a:ext cx="762135" cy="453377"/>
            <a:chOff x="0" y="0"/>
            <a:chExt cx="683165" cy="4064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 rot="5400000">
            <a:off x="4674503" y="7358875"/>
            <a:ext cx="762135" cy="453377"/>
            <a:chOff x="0" y="0"/>
            <a:chExt cx="683165" cy="4064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033007" y="8491736"/>
            <a:ext cx="762135" cy="453377"/>
            <a:chOff x="0" y="0"/>
            <a:chExt cx="683165" cy="4064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710812" y="8491736"/>
            <a:ext cx="762135" cy="453377"/>
            <a:chOff x="0" y="0"/>
            <a:chExt cx="683165" cy="4064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83165" cy="406400"/>
            </a:xfrm>
            <a:custGeom>
              <a:avLst/>
              <a:gdLst/>
              <a:ahLst/>
              <a:cxnLst/>
              <a:rect l="l" t="t" r="r" b="b"/>
              <a:pathLst>
                <a:path w="683165" h="406400">
                  <a:moveTo>
                    <a:pt x="0" y="0"/>
                  </a:moveTo>
                  <a:lnTo>
                    <a:pt x="479965" y="0"/>
                  </a:lnTo>
                  <a:lnTo>
                    <a:pt x="683165" y="203200"/>
                  </a:lnTo>
                  <a:lnTo>
                    <a:pt x="4799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B57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77800" y="-57150"/>
              <a:ext cx="429165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028700" y="2748558"/>
            <a:ext cx="2434784" cy="2394942"/>
          </a:xfrm>
          <a:custGeom>
            <a:avLst/>
            <a:gdLst/>
            <a:ahLst/>
            <a:cxnLst/>
            <a:rect l="l" t="t" r="r" b="b"/>
            <a:pathLst>
              <a:path w="2434784" h="2394942">
                <a:moveTo>
                  <a:pt x="0" y="0"/>
                </a:moveTo>
                <a:lnTo>
                  <a:pt x="2434784" y="0"/>
                </a:lnTo>
                <a:lnTo>
                  <a:pt x="2434784" y="2394942"/>
                </a:lnTo>
                <a:lnTo>
                  <a:pt x="0" y="23949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3875218" y="3797535"/>
            <a:ext cx="139311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b="1" spc="-204" dirty="0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01.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684101" y="3702285"/>
            <a:ext cx="200725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74"/>
              </a:lnSpc>
              <a:spcBef>
                <a:spcPct val="0"/>
              </a:spcBef>
            </a:pPr>
            <a:r>
              <a:rPr lang="en-US" sz="2499" b="1" spc="3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Proplem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47441" y="3786655"/>
            <a:ext cx="139311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b="1" spc="-2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02.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970059" y="3667518"/>
            <a:ext cx="2308456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74"/>
              </a:lnSpc>
              <a:spcBef>
                <a:spcPct val="0"/>
              </a:spcBef>
            </a:pPr>
            <a:r>
              <a:rPr lang="en-US" sz="2499" b="1" spc="39" dirty="0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Related Work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271278" y="3797535"/>
            <a:ext cx="1393118" cy="31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499" b="1" spc="-204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03.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080161" y="3702285"/>
            <a:ext cx="2007252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374"/>
              </a:lnSpc>
              <a:spcBef>
                <a:spcPct val="0"/>
              </a:spcBef>
            </a:pPr>
            <a:r>
              <a:rPr lang="en-US" sz="2499" b="1" spc="39">
                <a:solidFill>
                  <a:srgbClr val="EFEFEF"/>
                </a:solidFill>
                <a:latin typeface="TT Hoves Bold"/>
                <a:ea typeface="TT Hoves Bold"/>
                <a:cs typeface="TT Hoves Bold"/>
                <a:sym typeface="TT Hoves Bold"/>
              </a:rPr>
              <a:t>Solution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760F322-6507-29BA-07FB-9A98DA65F0B3}"/>
              </a:ext>
            </a:extLst>
          </p:cNvPr>
          <p:cNvGrpSpPr/>
          <p:nvPr/>
        </p:nvGrpSpPr>
        <p:grpSpPr>
          <a:xfrm>
            <a:off x="12815847" y="5833555"/>
            <a:ext cx="3271567" cy="995040"/>
            <a:chOff x="12815847" y="5833555"/>
            <a:chExt cx="3271567" cy="995040"/>
          </a:xfrm>
        </p:grpSpPr>
        <p:grpSp>
          <p:nvGrpSpPr>
            <p:cNvPr id="25" name="Group 25"/>
            <p:cNvGrpSpPr/>
            <p:nvPr/>
          </p:nvGrpSpPr>
          <p:grpSpPr>
            <a:xfrm>
              <a:off x="12815847" y="5833555"/>
              <a:ext cx="3271567" cy="995040"/>
              <a:chOff x="0" y="0"/>
              <a:chExt cx="1501524" cy="45668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501525" cy="456685"/>
              </a:xfrm>
              <a:custGeom>
                <a:avLst/>
                <a:gdLst/>
                <a:ahLst/>
                <a:cxnLst/>
                <a:rect l="l" t="t" r="r" b="b"/>
                <a:pathLst>
                  <a:path w="1501525" h="456685">
                    <a:moveTo>
                      <a:pt x="141986" y="0"/>
                    </a:moveTo>
                    <a:lnTo>
                      <a:pt x="1359539" y="0"/>
                    </a:lnTo>
                    <a:cubicBezTo>
                      <a:pt x="1397196" y="0"/>
                      <a:pt x="1433310" y="14959"/>
                      <a:pt x="1459938" y="41587"/>
                    </a:cubicBezTo>
                    <a:cubicBezTo>
                      <a:pt x="1486565" y="68214"/>
                      <a:pt x="1501525" y="104329"/>
                      <a:pt x="1501525" y="141986"/>
                    </a:cubicBezTo>
                    <a:lnTo>
                      <a:pt x="1501525" y="314700"/>
                    </a:lnTo>
                    <a:cubicBezTo>
                      <a:pt x="1501525" y="393116"/>
                      <a:pt x="1437955" y="456685"/>
                      <a:pt x="1359539" y="456685"/>
                    </a:cubicBezTo>
                    <a:lnTo>
                      <a:pt x="141986" y="456685"/>
                    </a:lnTo>
                    <a:cubicBezTo>
                      <a:pt x="63569" y="456685"/>
                      <a:pt x="0" y="393116"/>
                      <a:pt x="0" y="314700"/>
                    </a:cubicBezTo>
                    <a:lnTo>
                      <a:pt x="0" y="141986"/>
                    </a:lnTo>
                    <a:cubicBezTo>
                      <a:pt x="0" y="63569"/>
                      <a:pt x="63569" y="0"/>
                      <a:pt x="141986" y="0"/>
                    </a:cubicBezTo>
                    <a:close/>
                  </a:path>
                </a:pathLst>
              </a:custGeom>
              <a:solidFill>
                <a:srgbClr val="84B57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104775"/>
                <a:ext cx="1501524" cy="351910"/>
              </a:xfrm>
              <a:prstGeom prst="rect">
                <a:avLst/>
              </a:prstGeom>
            </p:spPr>
            <p:txBody>
              <a:bodyPr lIns="37053" tIns="37053" rIns="37053" bIns="37053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13025397" y="6161536"/>
              <a:ext cx="1393118" cy="31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04.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492122" y="6066286"/>
              <a:ext cx="2372908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Technology/AI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811EBF3-89BA-4621-880D-118009A80099}"/>
              </a:ext>
            </a:extLst>
          </p:cNvPr>
          <p:cNvGrpSpPr/>
          <p:nvPr/>
        </p:nvGrpSpPr>
        <p:grpSpPr>
          <a:xfrm>
            <a:off x="8096345" y="5833555"/>
            <a:ext cx="3271567" cy="995040"/>
            <a:chOff x="8096345" y="5833555"/>
            <a:chExt cx="3271567" cy="995040"/>
          </a:xfrm>
        </p:grpSpPr>
        <p:grpSp>
          <p:nvGrpSpPr>
            <p:cNvPr id="28" name="Group 28"/>
            <p:cNvGrpSpPr/>
            <p:nvPr/>
          </p:nvGrpSpPr>
          <p:grpSpPr>
            <a:xfrm>
              <a:off x="8096345" y="5833555"/>
              <a:ext cx="3271567" cy="995040"/>
              <a:chOff x="0" y="0"/>
              <a:chExt cx="1501524" cy="45668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501525" cy="456685"/>
              </a:xfrm>
              <a:custGeom>
                <a:avLst/>
                <a:gdLst/>
                <a:ahLst/>
                <a:cxnLst/>
                <a:rect l="l" t="t" r="r" b="b"/>
                <a:pathLst>
                  <a:path w="1501525" h="456685">
                    <a:moveTo>
                      <a:pt x="141986" y="0"/>
                    </a:moveTo>
                    <a:lnTo>
                      <a:pt x="1359539" y="0"/>
                    </a:lnTo>
                    <a:cubicBezTo>
                      <a:pt x="1397196" y="0"/>
                      <a:pt x="1433310" y="14959"/>
                      <a:pt x="1459938" y="41587"/>
                    </a:cubicBezTo>
                    <a:cubicBezTo>
                      <a:pt x="1486565" y="68214"/>
                      <a:pt x="1501525" y="104329"/>
                      <a:pt x="1501525" y="141986"/>
                    </a:cubicBezTo>
                    <a:lnTo>
                      <a:pt x="1501525" y="314700"/>
                    </a:lnTo>
                    <a:cubicBezTo>
                      <a:pt x="1501525" y="393116"/>
                      <a:pt x="1437955" y="456685"/>
                      <a:pt x="1359539" y="456685"/>
                    </a:cubicBezTo>
                    <a:lnTo>
                      <a:pt x="141986" y="456685"/>
                    </a:lnTo>
                    <a:cubicBezTo>
                      <a:pt x="63569" y="456685"/>
                      <a:pt x="0" y="393116"/>
                      <a:pt x="0" y="314700"/>
                    </a:cubicBezTo>
                    <a:lnTo>
                      <a:pt x="0" y="141986"/>
                    </a:lnTo>
                    <a:cubicBezTo>
                      <a:pt x="0" y="63569"/>
                      <a:pt x="63569" y="0"/>
                      <a:pt x="141986" y="0"/>
                    </a:cubicBezTo>
                    <a:close/>
                  </a:path>
                </a:pathLst>
              </a:custGeom>
              <a:solidFill>
                <a:srgbClr val="84B57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104775"/>
                <a:ext cx="1501524" cy="351910"/>
              </a:xfrm>
              <a:prstGeom prst="rect">
                <a:avLst/>
              </a:prstGeom>
            </p:spPr>
            <p:txBody>
              <a:bodyPr lIns="37053" tIns="37053" rIns="37053" bIns="37053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8345532" y="6194899"/>
              <a:ext cx="1393118" cy="31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05.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811516" y="6112528"/>
              <a:ext cx="2350152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 dirty="0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Feature Works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7681D66-7CC4-88EF-5CF8-8141B3BB8E5D}"/>
              </a:ext>
            </a:extLst>
          </p:cNvPr>
          <p:cNvGrpSpPr/>
          <p:nvPr/>
        </p:nvGrpSpPr>
        <p:grpSpPr>
          <a:xfrm>
            <a:off x="3419787" y="5833555"/>
            <a:ext cx="3271567" cy="995040"/>
            <a:chOff x="3419787" y="5833555"/>
            <a:chExt cx="3271567" cy="995040"/>
          </a:xfrm>
        </p:grpSpPr>
        <p:grpSp>
          <p:nvGrpSpPr>
            <p:cNvPr id="31" name="Group 31"/>
            <p:cNvGrpSpPr/>
            <p:nvPr/>
          </p:nvGrpSpPr>
          <p:grpSpPr>
            <a:xfrm>
              <a:off x="3419787" y="5833555"/>
              <a:ext cx="3271567" cy="995040"/>
              <a:chOff x="0" y="0"/>
              <a:chExt cx="1501524" cy="45668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501525" cy="456685"/>
              </a:xfrm>
              <a:custGeom>
                <a:avLst/>
                <a:gdLst/>
                <a:ahLst/>
                <a:cxnLst/>
                <a:rect l="l" t="t" r="r" b="b"/>
                <a:pathLst>
                  <a:path w="1501525" h="456685">
                    <a:moveTo>
                      <a:pt x="141986" y="0"/>
                    </a:moveTo>
                    <a:lnTo>
                      <a:pt x="1359539" y="0"/>
                    </a:lnTo>
                    <a:cubicBezTo>
                      <a:pt x="1397196" y="0"/>
                      <a:pt x="1433310" y="14959"/>
                      <a:pt x="1459938" y="41587"/>
                    </a:cubicBezTo>
                    <a:cubicBezTo>
                      <a:pt x="1486565" y="68214"/>
                      <a:pt x="1501525" y="104329"/>
                      <a:pt x="1501525" y="141986"/>
                    </a:cubicBezTo>
                    <a:lnTo>
                      <a:pt x="1501525" y="314700"/>
                    </a:lnTo>
                    <a:cubicBezTo>
                      <a:pt x="1501525" y="393116"/>
                      <a:pt x="1437955" y="456685"/>
                      <a:pt x="1359539" y="456685"/>
                    </a:cubicBezTo>
                    <a:lnTo>
                      <a:pt x="141986" y="456685"/>
                    </a:lnTo>
                    <a:cubicBezTo>
                      <a:pt x="63569" y="456685"/>
                      <a:pt x="0" y="393116"/>
                      <a:pt x="0" y="314700"/>
                    </a:cubicBezTo>
                    <a:lnTo>
                      <a:pt x="0" y="141986"/>
                    </a:lnTo>
                    <a:cubicBezTo>
                      <a:pt x="0" y="63569"/>
                      <a:pt x="63569" y="0"/>
                      <a:pt x="141986" y="0"/>
                    </a:cubicBezTo>
                    <a:close/>
                  </a:path>
                </a:pathLst>
              </a:custGeom>
              <a:solidFill>
                <a:srgbClr val="84B57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104775"/>
                <a:ext cx="1501524" cy="351910"/>
              </a:xfrm>
              <a:prstGeom prst="rect">
                <a:avLst/>
              </a:prstGeom>
            </p:spPr>
            <p:txBody>
              <a:bodyPr lIns="37053" tIns="37053" rIns="37053" bIns="37053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3875218" y="6194899"/>
              <a:ext cx="1393118" cy="314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 dirty="0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06.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73305" y="6066286"/>
              <a:ext cx="2007252" cy="409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 dirty="0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Demo Video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138042" y="8263260"/>
            <a:ext cx="3271567" cy="995040"/>
            <a:chOff x="0" y="0"/>
            <a:chExt cx="4362089" cy="1326720"/>
          </a:xfrm>
        </p:grpSpPr>
        <p:grpSp>
          <p:nvGrpSpPr>
            <p:cNvPr id="60" name="Group 60"/>
            <p:cNvGrpSpPr/>
            <p:nvPr/>
          </p:nvGrpSpPr>
          <p:grpSpPr>
            <a:xfrm>
              <a:off x="0" y="0"/>
              <a:ext cx="4362089" cy="1326720"/>
              <a:chOff x="0" y="0"/>
              <a:chExt cx="1501524" cy="45668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1501525" cy="456685"/>
              </a:xfrm>
              <a:custGeom>
                <a:avLst/>
                <a:gdLst/>
                <a:ahLst/>
                <a:cxnLst/>
                <a:rect l="l" t="t" r="r" b="b"/>
                <a:pathLst>
                  <a:path w="1501525" h="456685">
                    <a:moveTo>
                      <a:pt x="141986" y="0"/>
                    </a:moveTo>
                    <a:lnTo>
                      <a:pt x="1359539" y="0"/>
                    </a:lnTo>
                    <a:cubicBezTo>
                      <a:pt x="1397196" y="0"/>
                      <a:pt x="1433310" y="14959"/>
                      <a:pt x="1459938" y="41587"/>
                    </a:cubicBezTo>
                    <a:cubicBezTo>
                      <a:pt x="1486565" y="68214"/>
                      <a:pt x="1501525" y="104329"/>
                      <a:pt x="1501525" y="141986"/>
                    </a:cubicBezTo>
                    <a:lnTo>
                      <a:pt x="1501525" y="314700"/>
                    </a:lnTo>
                    <a:cubicBezTo>
                      <a:pt x="1501525" y="393116"/>
                      <a:pt x="1437955" y="456685"/>
                      <a:pt x="1359539" y="456685"/>
                    </a:cubicBezTo>
                    <a:lnTo>
                      <a:pt x="141986" y="456685"/>
                    </a:lnTo>
                    <a:cubicBezTo>
                      <a:pt x="63569" y="456685"/>
                      <a:pt x="0" y="393116"/>
                      <a:pt x="0" y="314700"/>
                    </a:cubicBezTo>
                    <a:lnTo>
                      <a:pt x="0" y="141986"/>
                    </a:lnTo>
                    <a:cubicBezTo>
                      <a:pt x="0" y="63569"/>
                      <a:pt x="63569" y="0"/>
                      <a:pt x="141986" y="0"/>
                    </a:cubicBezTo>
                    <a:close/>
                  </a:path>
                </a:pathLst>
              </a:custGeom>
              <a:solidFill>
                <a:srgbClr val="84B57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104775"/>
                <a:ext cx="1501524" cy="351910"/>
              </a:xfrm>
              <a:prstGeom prst="rect">
                <a:avLst/>
              </a:prstGeom>
            </p:spPr>
            <p:txBody>
              <a:bodyPr lIns="37053" tIns="37053" rIns="37053" bIns="37053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63" name="TextBox 63"/>
            <p:cNvSpPr txBox="1"/>
            <p:nvPr/>
          </p:nvSpPr>
          <p:spPr>
            <a:xfrm>
              <a:off x="607242" y="462742"/>
              <a:ext cx="1857491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 dirty="0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08.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685753" y="367492"/>
              <a:ext cx="2676336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 dirty="0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Conclusion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2815847" y="8220905"/>
            <a:ext cx="3271567" cy="995040"/>
            <a:chOff x="0" y="0"/>
            <a:chExt cx="4362089" cy="1326720"/>
          </a:xfrm>
        </p:grpSpPr>
        <p:sp>
          <p:nvSpPr>
            <p:cNvPr id="66" name="TextBox 66"/>
            <p:cNvSpPr txBox="1"/>
            <p:nvPr/>
          </p:nvSpPr>
          <p:spPr>
            <a:xfrm>
              <a:off x="737873" y="430892"/>
              <a:ext cx="1671128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02.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708176" y="335642"/>
              <a:ext cx="1880302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Problem</a:t>
              </a:r>
            </a:p>
          </p:txBody>
        </p:sp>
        <p:grpSp>
          <p:nvGrpSpPr>
            <p:cNvPr id="68" name="Group 68"/>
            <p:cNvGrpSpPr/>
            <p:nvPr/>
          </p:nvGrpSpPr>
          <p:grpSpPr>
            <a:xfrm>
              <a:off x="0" y="0"/>
              <a:ext cx="4362089" cy="1326720"/>
              <a:chOff x="0" y="0"/>
              <a:chExt cx="1501524" cy="456685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0" y="0"/>
                <a:ext cx="1501525" cy="456685"/>
              </a:xfrm>
              <a:custGeom>
                <a:avLst/>
                <a:gdLst/>
                <a:ahLst/>
                <a:cxnLst/>
                <a:rect l="l" t="t" r="r" b="b"/>
                <a:pathLst>
                  <a:path w="1501525" h="456685">
                    <a:moveTo>
                      <a:pt x="141986" y="0"/>
                    </a:moveTo>
                    <a:lnTo>
                      <a:pt x="1359539" y="0"/>
                    </a:lnTo>
                    <a:cubicBezTo>
                      <a:pt x="1397196" y="0"/>
                      <a:pt x="1433310" y="14959"/>
                      <a:pt x="1459938" y="41587"/>
                    </a:cubicBezTo>
                    <a:cubicBezTo>
                      <a:pt x="1486565" y="68214"/>
                      <a:pt x="1501525" y="104329"/>
                      <a:pt x="1501525" y="141986"/>
                    </a:cubicBezTo>
                    <a:lnTo>
                      <a:pt x="1501525" y="314700"/>
                    </a:lnTo>
                    <a:cubicBezTo>
                      <a:pt x="1501525" y="393116"/>
                      <a:pt x="1437955" y="456685"/>
                      <a:pt x="1359539" y="456685"/>
                    </a:cubicBezTo>
                    <a:lnTo>
                      <a:pt x="141986" y="456685"/>
                    </a:lnTo>
                    <a:cubicBezTo>
                      <a:pt x="63569" y="456685"/>
                      <a:pt x="0" y="393116"/>
                      <a:pt x="0" y="314700"/>
                    </a:cubicBezTo>
                    <a:lnTo>
                      <a:pt x="0" y="141986"/>
                    </a:lnTo>
                    <a:cubicBezTo>
                      <a:pt x="0" y="63569"/>
                      <a:pt x="63569" y="0"/>
                      <a:pt x="141986" y="0"/>
                    </a:cubicBezTo>
                    <a:close/>
                  </a:path>
                </a:pathLst>
              </a:custGeom>
              <a:solidFill>
                <a:srgbClr val="84B57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0" y="104775"/>
                <a:ext cx="1501524" cy="351910"/>
              </a:xfrm>
              <a:prstGeom prst="rect">
                <a:avLst/>
              </a:prstGeom>
            </p:spPr>
            <p:txBody>
              <a:bodyPr lIns="37053" tIns="37053" rIns="37053" bIns="37053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71" name="TextBox 71"/>
            <p:cNvSpPr txBox="1"/>
            <p:nvPr/>
          </p:nvSpPr>
          <p:spPr>
            <a:xfrm>
              <a:off x="607242" y="462742"/>
              <a:ext cx="1857491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09.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55165" y="335642"/>
              <a:ext cx="2676336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References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1504950" y="1717164"/>
            <a:ext cx="7639050" cy="1027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449" b="1" spc="-365">
                <a:solidFill>
                  <a:srgbClr val="3F6959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Content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3463484" y="8220905"/>
            <a:ext cx="3271567" cy="995040"/>
            <a:chOff x="0" y="0"/>
            <a:chExt cx="4362089" cy="1326720"/>
          </a:xfrm>
        </p:grpSpPr>
        <p:grpSp>
          <p:nvGrpSpPr>
            <p:cNvPr id="75" name="Group 75"/>
            <p:cNvGrpSpPr/>
            <p:nvPr/>
          </p:nvGrpSpPr>
          <p:grpSpPr>
            <a:xfrm>
              <a:off x="0" y="0"/>
              <a:ext cx="4362089" cy="1326720"/>
              <a:chOff x="0" y="0"/>
              <a:chExt cx="1501524" cy="45668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1501525" cy="456685"/>
              </a:xfrm>
              <a:custGeom>
                <a:avLst/>
                <a:gdLst/>
                <a:ahLst/>
                <a:cxnLst/>
                <a:rect l="l" t="t" r="r" b="b"/>
                <a:pathLst>
                  <a:path w="1501525" h="456685">
                    <a:moveTo>
                      <a:pt x="141986" y="0"/>
                    </a:moveTo>
                    <a:lnTo>
                      <a:pt x="1359539" y="0"/>
                    </a:lnTo>
                    <a:cubicBezTo>
                      <a:pt x="1397196" y="0"/>
                      <a:pt x="1433310" y="14959"/>
                      <a:pt x="1459938" y="41587"/>
                    </a:cubicBezTo>
                    <a:cubicBezTo>
                      <a:pt x="1486565" y="68214"/>
                      <a:pt x="1501525" y="104329"/>
                      <a:pt x="1501525" y="141986"/>
                    </a:cubicBezTo>
                    <a:lnTo>
                      <a:pt x="1501525" y="314700"/>
                    </a:lnTo>
                    <a:cubicBezTo>
                      <a:pt x="1501525" y="393116"/>
                      <a:pt x="1437955" y="456685"/>
                      <a:pt x="1359539" y="456685"/>
                    </a:cubicBezTo>
                    <a:lnTo>
                      <a:pt x="141986" y="456685"/>
                    </a:lnTo>
                    <a:cubicBezTo>
                      <a:pt x="63569" y="456685"/>
                      <a:pt x="0" y="393116"/>
                      <a:pt x="0" y="314700"/>
                    </a:cubicBezTo>
                    <a:lnTo>
                      <a:pt x="0" y="141986"/>
                    </a:lnTo>
                    <a:cubicBezTo>
                      <a:pt x="0" y="63569"/>
                      <a:pt x="63569" y="0"/>
                      <a:pt x="141986" y="0"/>
                    </a:cubicBezTo>
                    <a:close/>
                  </a:path>
                </a:pathLst>
              </a:custGeom>
              <a:solidFill>
                <a:srgbClr val="84B572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0" y="104775"/>
                <a:ext cx="1501524" cy="351910"/>
              </a:xfrm>
              <a:prstGeom prst="rect">
                <a:avLst/>
              </a:prstGeom>
            </p:spPr>
            <p:txBody>
              <a:bodyPr lIns="37053" tIns="37053" rIns="37053" bIns="37053" rtlCol="0" anchor="ctr"/>
              <a:lstStyle/>
              <a:p>
                <a:pPr algn="ctr">
                  <a:lnSpc>
                    <a:spcPts val="1925"/>
                  </a:lnSpc>
                </a:pPr>
                <a:endParaRPr/>
              </a:p>
            </p:txBody>
          </p:sp>
        </p:grpSp>
        <p:sp>
          <p:nvSpPr>
            <p:cNvPr id="78" name="TextBox 78"/>
            <p:cNvSpPr txBox="1"/>
            <p:nvPr/>
          </p:nvSpPr>
          <p:spPr>
            <a:xfrm>
              <a:off x="417682" y="529334"/>
              <a:ext cx="1857491" cy="4381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99"/>
                </a:lnSpc>
              </a:pPr>
              <a:r>
                <a:rPr lang="en-US" sz="2499" b="1" spc="-204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08.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346428" y="377610"/>
              <a:ext cx="2676336" cy="533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3374"/>
                </a:lnSpc>
                <a:spcBef>
                  <a:spcPct val="0"/>
                </a:spcBef>
              </a:pPr>
              <a:r>
                <a:rPr lang="en-US" sz="2499" b="1" spc="39">
                  <a:solidFill>
                    <a:srgbClr val="EFEFEF"/>
                  </a:solidFill>
                  <a:latin typeface="TT Hoves Bold"/>
                  <a:ea typeface="TT Hoves Bold"/>
                  <a:cs typeface="TT Hoves Bold"/>
                  <a:sym typeface="TT Hoves Bold"/>
                </a:rPr>
                <a:t>Future Work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07422" y="3012462"/>
            <a:ext cx="412670" cy="412670"/>
            <a:chOff x="0" y="0"/>
            <a:chExt cx="550226" cy="550226"/>
          </a:xfrm>
        </p:grpSpPr>
        <p:grpSp>
          <p:nvGrpSpPr>
            <p:cNvPr id="3" name="Group 3"/>
            <p:cNvGrpSpPr/>
            <p:nvPr/>
          </p:nvGrpSpPr>
          <p:grpSpPr>
            <a:xfrm rot="-10800000">
              <a:off x="0" y="0"/>
              <a:ext cx="550226" cy="550226"/>
              <a:chOff x="0" y="0"/>
              <a:chExt cx="6350000" cy="6350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F6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 rot="-10800000">
              <a:off x="201961" y="201961"/>
              <a:ext cx="146304" cy="146304"/>
              <a:chOff x="0" y="0"/>
              <a:chExt cx="6350000" cy="6350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AE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10607422" y="4474183"/>
            <a:ext cx="412670" cy="412670"/>
            <a:chOff x="0" y="0"/>
            <a:chExt cx="550226" cy="550226"/>
          </a:xfrm>
        </p:grpSpPr>
        <p:grpSp>
          <p:nvGrpSpPr>
            <p:cNvPr id="8" name="Group 8"/>
            <p:cNvGrpSpPr/>
            <p:nvPr/>
          </p:nvGrpSpPr>
          <p:grpSpPr>
            <a:xfrm rot="-10800000">
              <a:off x="0" y="0"/>
              <a:ext cx="550226" cy="55022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F6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 rot="-10800000">
              <a:off x="201961" y="201961"/>
              <a:ext cx="146304" cy="146304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AE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0607422" y="6212134"/>
            <a:ext cx="412670" cy="412670"/>
            <a:chOff x="0" y="0"/>
            <a:chExt cx="550226" cy="550226"/>
          </a:xfrm>
        </p:grpSpPr>
        <p:grpSp>
          <p:nvGrpSpPr>
            <p:cNvPr id="13" name="Group 13"/>
            <p:cNvGrpSpPr/>
            <p:nvPr/>
          </p:nvGrpSpPr>
          <p:grpSpPr>
            <a:xfrm rot="-10800000">
              <a:off x="0" y="0"/>
              <a:ext cx="550226" cy="550226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F6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 rot="-10800000">
              <a:off x="201961" y="201961"/>
              <a:ext cx="146304" cy="146304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AE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10607422" y="7833248"/>
            <a:ext cx="412670" cy="412670"/>
            <a:chOff x="0" y="0"/>
            <a:chExt cx="550226" cy="550226"/>
          </a:xfrm>
        </p:grpSpPr>
        <p:grpSp>
          <p:nvGrpSpPr>
            <p:cNvPr id="18" name="Group 18"/>
            <p:cNvGrpSpPr/>
            <p:nvPr/>
          </p:nvGrpSpPr>
          <p:grpSpPr>
            <a:xfrm rot="-10800000">
              <a:off x="0" y="0"/>
              <a:ext cx="550226" cy="550226"/>
              <a:chOff x="0" y="0"/>
              <a:chExt cx="6350000" cy="63500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3F6959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10800000">
              <a:off x="201961" y="201961"/>
              <a:ext cx="146304" cy="146304"/>
              <a:chOff x="0" y="0"/>
              <a:chExt cx="6350000" cy="6350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1EAE5"/>
              </a:solidFill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0" y="0"/>
            <a:ext cx="9144000" cy="10287000"/>
            <a:chOff x="0" y="0"/>
            <a:chExt cx="812800" cy="914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914400"/>
            </a:xfrm>
            <a:custGeom>
              <a:avLst/>
              <a:gdLst/>
              <a:ahLst/>
              <a:cxnLst/>
              <a:rect l="l" t="t" r="r" b="b"/>
              <a:pathLst>
                <a:path w="812800" h="914400">
                  <a:moveTo>
                    <a:pt x="84667" y="0"/>
                  </a:moveTo>
                  <a:lnTo>
                    <a:pt x="728133" y="0"/>
                  </a:lnTo>
                  <a:cubicBezTo>
                    <a:pt x="774893" y="0"/>
                    <a:pt x="812800" y="37907"/>
                    <a:pt x="812800" y="84667"/>
                  </a:cubicBezTo>
                  <a:lnTo>
                    <a:pt x="812800" y="829733"/>
                  </a:lnTo>
                  <a:cubicBezTo>
                    <a:pt x="812800" y="876493"/>
                    <a:pt x="774893" y="914400"/>
                    <a:pt x="728133" y="914400"/>
                  </a:cubicBezTo>
                  <a:lnTo>
                    <a:pt x="84667" y="914400"/>
                  </a:lnTo>
                  <a:cubicBezTo>
                    <a:pt x="37907" y="914400"/>
                    <a:pt x="0" y="876493"/>
                    <a:pt x="0" y="829733"/>
                  </a:cubicBezTo>
                  <a:lnTo>
                    <a:pt x="0" y="84667"/>
                  </a:lnTo>
                  <a:cubicBezTo>
                    <a:pt x="0" y="37907"/>
                    <a:pt x="37907" y="0"/>
                    <a:pt x="84667" y="0"/>
                  </a:cubicBezTo>
                  <a:close/>
                </a:path>
              </a:pathLst>
            </a:custGeom>
            <a:blipFill>
              <a:blip r:embed="rId2"/>
              <a:stretch>
                <a:fillRect t="-7142" b="-714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E846107-E5EA-9EFA-16AF-163A62008BD2}"/>
              </a:ext>
            </a:extLst>
          </p:cNvPr>
          <p:cNvGrpSpPr/>
          <p:nvPr/>
        </p:nvGrpSpPr>
        <p:grpSpPr>
          <a:xfrm>
            <a:off x="575304" y="1137133"/>
            <a:ext cx="10444788" cy="1766423"/>
            <a:chOff x="575304" y="1137133"/>
            <a:chExt cx="10444788" cy="1766423"/>
          </a:xfrm>
        </p:grpSpPr>
        <p:sp>
          <p:nvSpPr>
            <p:cNvPr id="24" name="Freeform 24"/>
            <p:cNvSpPr/>
            <p:nvPr/>
          </p:nvSpPr>
          <p:spPr>
            <a:xfrm>
              <a:off x="575304" y="1137133"/>
              <a:ext cx="6609066" cy="1766423"/>
            </a:xfrm>
            <a:custGeom>
              <a:avLst/>
              <a:gdLst/>
              <a:ahLst/>
              <a:cxnLst/>
              <a:rect l="l" t="t" r="r" b="b"/>
              <a:pathLst>
                <a:path w="6609066" h="1766423">
                  <a:moveTo>
                    <a:pt x="0" y="0"/>
                  </a:moveTo>
                  <a:lnTo>
                    <a:pt x="6609066" y="0"/>
                  </a:lnTo>
                  <a:lnTo>
                    <a:pt x="6609066" y="1766423"/>
                  </a:lnTo>
                  <a:lnTo>
                    <a:pt x="0" y="1766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4411026" y="1137133"/>
              <a:ext cx="6609066" cy="1766423"/>
            </a:xfrm>
            <a:custGeom>
              <a:avLst/>
              <a:gdLst/>
              <a:ahLst/>
              <a:cxnLst/>
              <a:rect l="l" t="t" r="r" b="b"/>
              <a:pathLst>
                <a:path w="6609066" h="1766423">
                  <a:moveTo>
                    <a:pt x="0" y="0"/>
                  </a:moveTo>
                  <a:lnTo>
                    <a:pt x="6609066" y="0"/>
                  </a:lnTo>
                  <a:lnTo>
                    <a:pt x="6609066" y="1766423"/>
                  </a:lnTo>
                  <a:lnTo>
                    <a:pt x="0" y="17664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83322" y="1387249"/>
              <a:ext cx="9736770" cy="11995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194"/>
                </a:lnSpc>
              </a:pPr>
              <a:r>
                <a:rPr lang="en-US" sz="7449" b="1" spc="-365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287724" y="2541606"/>
            <a:ext cx="5716621" cy="251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 spc="-13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Social Stigma</a:t>
            </a:r>
          </a:p>
          <a:p>
            <a:pPr marL="0" lvl="0" indent="0" algn="l">
              <a:lnSpc>
                <a:spcPts val="3919"/>
              </a:lnSpc>
            </a:pPr>
            <a:r>
              <a:rPr lang="en-US" sz="2799" spc="-13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Negative perceptions delay seeking help.</a:t>
            </a:r>
          </a:p>
          <a:p>
            <a:pPr marL="0" lvl="0" indent="0" algn="l">
              <a:lnSpc>
                <a:spcPts val="3919"/>
              </a:lnSpc>
            </a:pPr>
            <a:endParaRPr lang="en-US" sz="2799" spc="-13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3919"/>
              </a:lnSpc>
            </a:pPr>
            <a:endParaRPr lang="en-US" sz="2799" spc="-13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287724" y="4187753"/>
            <a:ext cx="5971576" cy="202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 spc="-13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Low Awareness</a:t>
            </a:r>
          </a:p>
          <a:p>
            <a:pPr marL="0" lvl="0" indent="0" algn="l">
              <a:lnSpc>
                <a:spcPts val="3919"/>
              </a:lnSpc>
            </a:pPr>
            <a:r>
              <a:rPr lang="en-US" sz="2799" spc="-13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Many lack understanding of mental health problems.</a:t>
            </a:r>
          </a:p>
          <a:p>
            <a:pPr marL="0" lvl="0" indent="0" algn="l">
              <a:lnSpc>
                <a:spcPts val="3919"/>
              </a:lnSpc>
            </a:pPr>
            <a:endParaRPr lang="en-US" sz="2799" spc="-13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287724" y="5808868"/>
            <a:ext cx="5971576" cy="202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 spc="-13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Rural Access Barriers</a:t>
            </a:r>
          </a:p>
          <a:p>
            <a:pPr marL="0" lvl="0" indent="0" algn="l">
              <a:lnSpc>
                <a:spcPts val="3919"/>
              </a:lnSpc>
            </a:pPr>
            <a:r>
              <a:rPr lang="en-US" sz="2799" spc="-13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Limited professional support in rural areas.</a:t>
            </a:r>
          </a:p>
          <a:p>
            <a:pPr marL="0" lvl="0" indent="0" algn="l">
              <a:lnSpc>
                <a:spcPts val="3919"/>
              </a:lnSpc>
            </a:pPr>
            <a:endParaRPr lang="en-US" sz="2799" spc="-13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287724" y="7512614"/>
            <a:ext cx="5486949" cy="202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 b="1" spc="-13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Absence of Central Platform</a:t>
            </a:r>
          </a:p>
          <a:p>
            <a:pPr marL="0" lvl="0" indent="0" algn="l">
              <a:lnSpc>
                <a:spcPts val="3919"/>
              </a:lnSpc>
            </a:pPr>
            <a:r>
              <a:rPr lang="en-US" sz="2799" spc="-13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No culturally relevant digital resource exists.</a:t>
            </a:r>
          </a:p>
          <a:p>
            <a:pPr marL="0" lvl="0" indent="0" algn="l">
              <a:lnSpc>
                <a:spcPts val="3919"/>
              </a:lnSpc>
            </a:pPr>
            <a:endParaRPr lang="en-US" sz="2799" spc="-13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471150" y="-1106859"/>
            <a:ext cx="12500768" cy="12500718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t="-1613" b="-161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3777784"/>
            <a:ext cx="7854272" cy="5078046"/>
            <a:chOff x="0" y="0"/>
            <a:chExt cx="10472363" cy="6770728"/>
          </a:xfrm>
        </p:grpSpPr>
        <p:sp>
          <p:nvSpPr>
            <p:cNvPr id="5" name="AutoShape 5"/>
            <p:cNvSpPr/>
            <p:nvPr/>
          </p:nvSpPr>
          <p:spPr>
            <a:xfrm flipV="1">
              <a:off x="12700" y="4357438"/>
              <a:ext cx="0" cy="131139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09368" y="3131713"/>
              <a:ext cx="10062996" cy="36390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12"/>
                </a:lnSpc>
              </a:pPr>
              <a:r>
                <a:rPr lang="en-US" sz="308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Existing mental health support platforms often fall into categories such as online therapy platforms (e.g., </a:t>
              </a:r>
              <a:r>
                <a:rPr lang="en-US" sz="3080" b="1" dirty="0" err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Shezlong</a:t>
              </a:r>
              <a:r>
                <a:rPr lang="en-US" sz="308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, </a:t>
              </a:r>
              <a:r>
                <a:rPr lang="en-US" sz="3080" b="1" dirty="0" err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BetterHelp</a:t>
              </a:r>
              <a:r>
                <a:rPr lang="en-US" sz="308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 and AI-powered chatbots (e.g., </a:t>
              </a:r>
              <a:r>
                <a:rPr lang="en-US" sz="3080" b="1" dirty="0" err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Woebot</a:t>
              </a:r>
              <a:r>
                <a:rPr lang="en-US" sz="308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).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42875"/>
              <a:ext cx="10472363" cy="16541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939"/>
                </a:lnSpc>
              </a:pPr>
              <a:r>
                <a:rPr lang="en-US" sz="7449" b="1" spc="-365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Related Work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38415" y="3107531"/>
            <a:ext cx="0" cy="6309595"/>
          </a:xfrm>
          <a:prstGeom prst="line">
            <a:avLst/>
          </a:prstGeom>
          <a:ln w="9525" cap="rnd">
            <a:solidFill>
              <a:srgbClr val="84B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878513" y="3254530"/>
            <a:ext cx="2046979" cy="796616"/>
          </a:xfrm>
          <a:custGeom>
            <a:avLst/>
            <a:gdLst/>
            <a:ahLst/>
            <a:cxnLst/>
            <a:rect l="l" t="t" r="r" b="b"/>
            <a:pathLst>
              <a:path w="2046979" h="796616">
                <a:moveTo>
                  <a:pt x="0" y="0"/>
                </a:moveTo>
                <a:lnTo>
                  <a:pt x="2046979" y="0"/>
                </a:lnTo>
                <a:lnTo>
                  <a:pt x="2046979" y="796615"/>
                </a:lnTo>
                <a:lnTo>
                  <a:pt x="0" y="7966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0967234" y="3150363"/>
            <a:ext cx="0" cy="6309595"/>
          </a:xfrm>
          <a:prstGeom prst="line">
            <a:avLst/>
          </a:prstGeom>
          <a:ln w="9525" cap="rnd">
            <a:solidFill>
              <a:srgbClr val="84B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392875" y="3313983"/>
            <a:ext cx="2219899" cy="677710"/>
          </a:xfrm>
          <a:custGeom>
            <a:avLst/>
            <a:gdLst/>
            <a:ahLst/>
            <a:cxnLst/>
            <a:rect l="l" t="t" r="r" b="b"/>
            <a:pathLst>
              <a:path w="2219899" h="677710">
                <a:moveTo>
                  <a:pt x="0" y="0"/>
                </a:moveTo>
                <a:lnTo>
                  <a:pt x="2219899" y="0"/>
                </a:lnTo>
                <a:lnTo>
                  <a:pt x="2219899" y="677709"/>
                </a:lnTo>
                <a:lnTo>
                  <a:pt x="0" y="6777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076897" y="3443497"/>
            <a:ext cx="3310503" cy="418681"/>
          </a:xfrm>
          <a:custGeom>
            <a:avLst/>
            <a:gdLst/>
            <a:ahLst/>
            <a:cxnLst/>
            <a:rect l="l" t="t" r="r" b="b"/>
            <a:pathLst>
              <a:path w="3310503" h="418681">
                <a:moveTo>
                  <a:pt x="0" y="0"/>
                </a:moveTo>
                <a:lnTo>
                  <a:pt x="3310502" y="0"/>
                </a:lnTo>
                <a:lnTo>
                  <a:pt x="3310502" y="418681"/>
                </a:lnTo>
                <a:lnTo>
                  <a:pt x="0" y="4186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436977" y="4457873"/>
            <a:ext cx="4272826" cy="392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Serves over 5 million users worldwide.</a:t>
            </a: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72% of users report reduced symptoms within 12 weeks.</a:t>
            </a:r>
          </a:p>
          <a:p>
            <a:pPr algn="l">
              <a:lnSpc>
                <a:spcPts val="3098"/>
              </a:lnSpc>
            </a:pPr>
            <a:endParaRPr lang="en-US" sz="2212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Some users report challenges in matching with the right therapist. </a:t>
            </a:r>
          </a:p>
          <a:p>
            <a:pPr algn="ctr">
              <a:lnSpc>
                <a:spcPts val="3098"/>
              </a:lnSpc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[Source: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 1.1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1.2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algn="ctr">
              <a:lnSpc>
                <a:spcPts val="3098"/>
              </a:lnSpc>
            </a:pPr>
            <a:endParaRPr lang="en-US" sz="2212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09650" y="885825"/>
            <a:ext cx="14819387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40"/>
              </a:lnSpc>
              <a:spcBef>
                <a:spcPct val="0"/>
              </a:spcBef>
            </a:pPr>
            <a:r>
              <a:rPr lang="en-US" sz="7450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Results &amp; Research Highlights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66412" y="4457873"/>
            <a:ext cx="4272826" cy="4315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First online psychotherapy platform in the MENA region.</a:t>
            </a: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Helped over 39,000 users access licensed therapists.</a:t>
            </a:r>
          </a:p>
          <a:p>
            <a:pPr algn="l">
              <a:lnSpc>
                <a:spcPts val="3098"/>
              </a:lnSpc>
            </a:pPr>
            <a:endParaRPr lang="en-US" sz="2212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Launched MENA’s first AI therapy assistant in 2025 to improve access and response time.</a:t>
            </a:r>
          </a:p>
          <a:p>
            <a:pPr algn="ctr">
              <a:lnSpc>
                <a:spcPts val="3098"/>
              </a:lnSpc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[Source: 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2.1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2.2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algn="ctr">
              <a:lnSpc>
                <a:spcPts val="3098"/>
              </a:lnSpc>
            </a:pPr>
            <a:endParaRPr lang="en-US" sz="2212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295847" y="4457873"/>
            <a:ext cx="4906630" cy="509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Uses AI to deliver chat-based emotional support 24/7.</a:t>
            </a: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Studies show significant reductions in depression and anxiety symptoms.</a:t>
            </a: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Clinical trial found </a:t>
            </a:r>
            <a:r>
              <a:rPr lang="en-US" sz="2212" dirty="0" err="1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Woebot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 is as effective as human therapists, especially for teens.</a:t>
            </a:r>
          </a:p>
          <a:p>
            <a:pPr marL="477763" lvl="1" indent="-238881" algn="l">
              <a:lnSpc>
                <a:spcPts val="3098"/>
              </a:lnSpc>
              <a:buFont typeface="Arial"/>
              <a:buChar char="•"/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Builds meaningful therapeutic relationships with users despite being a bot.</a:t>
            </a:r>
          </a:p>
          <a:p>
            <a:pPr algn="ctr">
              <a:lnSpc>
                <a:spcPts val="3098"/>
              </a:lnSpc>
            </a:pP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[Source: 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3.1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3.2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212" u="sng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7" action="ppaction://hlinksldjump"/>
              </a:rPr>
              <a:t>3.3</a:t>
            </a:r>
            <a:r>
              <a:rPr lang="en-US" sz="2212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</a:p>
          <a:p>
            <a:pPr algn="ctr">
              <a:lnSpc>
                <a:spcPts val="3098"/>
              </a:lnSpc>
            </a:pPr>
            <a:endParaRPr lang="en-US" sz="2212" dirty="0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5400000">
            <a:off x="1664763" y="6257937"/>
            <a:ext cx="6309595" cy="0"/>
          </a:xfrm>
          <a:prstGeom prst="line">
            <a:avLst/>
          </a:prstGeom>
          <a:ln w="9525" cap="rnd">
            <a:solidFill>
              <a:srgbClr val="84B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 rot="5400000">
            <a:off x="5626224" y="6435699"/>
            <a:ext cx="6665119" cy="0"/>
          </a:xfrm>
          <a:prstGeom prst="line">
            <a:avLst/>
          </a:prstGeom>
          <a:ln w="9525" cap="rnd">
            <a:solidFill>
              <a:srgbClr val="84B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 rot="5400000">
            <a:off x="10170786" y="6257937"/>
            <a:ext cx="6309595" cy="0"/>
          </a:xfrm>
          <a:prstGeom prst="line">
            <a:avLst/>
          </a:prstGeom>
          <a:ln w="9525" cap="rnd">
            <a:solidFill>
              <a:srgbClr val="84B57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2196875" y="3720532"/>
            <a:ext cx="1107666" cy="1158206"/>
          </a:xfrm>
          <a:custGeom>
            <a:avLst/>
            <a:gdLst/>
            <a:ahLst/>
            <a:cxnLst/>
            <a:rect l="l" t="t" r="r" b="b"/>
            <a:pathLst>
              <a:path w="1107666" h="1158206">
                <a:moveTo>
                  <a:pt x="0" y="0"/>
                </a:moveTo>
                <a:lnTo>
                  <a:pt x="1107665" y="0"/>
                </a:lnTo>
                <a:lnTo>
                  <a:pt x="1107665" y="1158205"/>
                </a:lnTo>
                <a:lnTo>
                  <a:pt x="0" y="1158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259429" y="3784346"/>
            <a:ext cx="1094391" cy="1094391"/>
          </a:xfrm>
          <a:custGeom>
            <a:avLst/>
            <a:gdLst/>
            <a:ahLst/>
            <a:cxnLst/>
            <a:rect l="l" t="t" r="r" b="b"/>
            <a:pathLst>
              <a:path w="1094391" h="1094391">
                <a:moveTo>
                  <a:pt x="0" y="0"/>
                </a:moveTo>
                <a:lnTo>
                  <a:pt x="1094391" y="0"/>
                </a:lnTo>
                <a:lnTo>
                  <a:pt x="1094391" y="1094391"/>
                </a:lnTo>
                <a:lnTo>
                  <a:pt x="0" y="10943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562248" y="3548334"/>
            <a:ext cx="1248019" cy="1330404"/>
          </a:xfrm>
          <a:custGeom>
            <a:avLst/>
            <a:gdLst/>
            <a:ahLst/>
            <a:cxnLst/>
            <a:rect l="l" t="t" r="r" b="b"/>
            <a:pathLst>
              <a:path w="1248019" h="1330404">
                <a:moveTo>
                  <a:pt x="0" y="0"/>
                </a:moveTo>
                <a:lnTo>
                  <a:pt x="1248019" y="0"/>
                </a:lnTo>
                <a:lnTo>
                  <a:pt x="1248019" y="1330403"/>
                </a:lnTo>
                <a:lnTo>
                  <a:pt x="0" y="1330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4959121" y="3560843"/>
            <a:ext cx="1051920" cy="1317895"/>
          </a:xfrm>
          <a:custGeom>
            <a:avLst/>
            <a:gdLst/>
            <a:ahLst/>
            <a:cxnLst/>
            <a:rect l="l" t="t" r="r" b="b"/>
            <a:pathLst>
              <a:path w="1051920" h="1317895">
                <a:moveTo>
                  <a:pt x="0" y="0"/>
                </a:moveTo>
                <a:lnTo>
                  <a:pt x="1051919" y="0"/>
                </a:lnTo>
                <a:lnTo>
                  <a:pt x="1051919" y="1317894"/>
                </a:lnTo>
                <a:lnTo>
                  <a:pt x="0" y="1317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251542" y="5165820"/>
            <a:ext cx="3110166" cy="88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6"/>
              </a:lnSpc>
              <a:spcBef>
                <a:spcPct val="0"/>
              </a:spcBef>
            </a:pPr>
            <a:r>
              <a:rPr lang="en-US" sz="2581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Absenc</a:t>
            </a:r>
            <a:r>
              <a:rPr lang="en-US" sz="2581" b="1" u="none" strike="noStrike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e of Human Interaction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31236" y="5143697"/>
            <a:ext cx="3927659" cy="1308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6"/>
              </a:lnSpc>
              <a:spcBef>
                <a:spcPct val="0"/>
              </a:spcBef>
            </a:pPr>
            <a:r>
              <a:rPr lang="en-US" sz="2581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Lack of Integ</a:t>
            </a:r>
            <a:r>
              <a:rPr lang="en-US" sz="2581" b="1" u="none" strike="noStrike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rated AI and Community-Driven Features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4916" y="5165820"/>
            <a:ext cx="3447957" cy="88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6"/>
              </a:lnSpc>
            </a:pPr>
            <a:r>
              <a:rPr lang="en-US" sz="2581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Limited Community Features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2949" y="6716734"/>
            <a:ext cx="3975516" cy="117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212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Shezlong lacks features for peer support and story sharing.</a:t>
            </a:r>
          </a:p>
          <a:p>
            <a:pPr algn="ctr">
              <a:lnSpc>
                <a:spcPts val="3098"/>
              </a:lnSpc>
            </a:pPr>
            <a:endParaRPr lang="en-US" sz="2212">
              <a:solidFill>
                <a:srgbClr val="3F6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00523" y="6716734"/>
            <a:ext cx="3975516" cy="117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212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Woebot provides 24/7 AI support but no human therapist interaction.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30040" y="6716734"/>
            <a:ext cx="3975516" cy="117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212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BetterHelp does not incorporate community features or AI-powered psychological tests.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49534" y="5143697"/>
            <a:ext cx="3927659" cy="464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6"/>
              </a:lnSpc>
              <a:spcBef>
                <a:spcPct val="0"/>
              </a:spcBef>
            </a:pPr>
            <a:r>
              <a:rPr lang="en-US" sz="2581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Stigm</a:t>
            </a:r>
            <a:r>
              <a:rPr lang="en-US" sz="2581" b="1" u="none" strike="noStrike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a and Awareness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577996" y="6716734"/>
            <a:ext cx="3975516" cy="1565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212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Current solutions often do not specifically address cultural barriers and the lack of awareness prevalent in Egypt.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9650" y="885825"/>
            <a:ext cx="14819387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40"/>
              </a:lnSpc>
              <a:spcBef>
                <a:spcPct val="0"/>
              </a:spcBef>
            </a:pPr>
            <a:r>
              <a:rPr lang="en-US" sz="7450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Limitations of Current Solutions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727071">
            <a:off x="10538155" y="5143500"/>
            <a:ext cx="10653204" cy="8229600"/>
          </a:xfrm>
          <a:custGeom>
            <a:avLst/>
            <a:gdLst/>
            <a:ahLst/>
            <a:cxnLst/>
            <a:rect l="l" t="t" r="r" b="b"/>
            <a:pathLst>
              <a:path w="10653204" h="8229600">
                <a:moveTo>
                  <a:pt x="0" y="0"/>
                </a:moveTo>
                <a:lnTo>
                  <a:pt x="10653204" y="0"/>
                </a:lnTo>
                <a:lnTo>
                  <a:pt x="106532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999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647825" y="2057400"/>
            <a:ext cx="5201573" cy="4570330"/>
            <a:chOff x="0" y="0"/>
            <a:chExt cx="6935430" cy="6093774"/>
          </a:xfrm>
        </p:grpSpPr>
        <p:sp>
          <p:nvSpPr>
            <p:cNvPr id="4" name="TextBox 4"/>
            <p:cNvSpPr txBox="1"/>
            <p:nvPr/>
          </p:nvSpPr>
          <p:spPr>
            <a:xfrm>
              <a:off x="0" y="-190500"/>
              <a:ext cx="6935430" cy="2120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1400"/>
                </a:lnSpc>
              </a:pPr>
              <a:r>
                <a:rPr lang="en-US" sz="9500" b="1" spc="-465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Solution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398074"/>
              <a:ext cx="6935430" cy="3695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320"/>
                </a:lnSpc>
              </a:pPr>
              <a:r>
                <a:rPr lang="en-US" sz="360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MindFul offers a comprehensive, multi-faceted platform designed to overcome these challenges: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343102" y="2057400"/>
            <a:ext cx="7297073" cy="533400"/>
            <a:chOff x="0" y="0"/>
            <a:chExt cx="9729430" cy="711200"/>
          </a:xfrm>
        </p:grpSpPr>
        <p:sp>
          <p:nvSpPr>
            <p:cNvPr id="7" name="TextBox 7"/>
            <p:cNvSpPr txBox="1"/>
            <p:nvPr/>
          </p:nvSpPr>
          <p:spPr>
            <a:xfrm>
              <a:off x="1397000" y="10583"/>
              <a:ext cx="833243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Mental Health Articles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76200"/>
              <a:ext cx="890230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43102" y="3185160"/>
            <a:ext cx="7297073" cy="533400"/>
            <a:chOff x="0" y="0"/>
            <a:chExt cx="9729430" cy="711200"/>
          </a:xfrm>
        </p:grpSpPr>
        <p:sp>
          <p:nvSpPr>
            <p:cNvPr id="10" name="TextBox 10"/>
            <p:cNvSpPr txBox="1"/>
            <p:nvPr/>
          </p:nvSpPr>
          <p:spPr>
            <a:xfrm>
              <a:off x="1397000" y="10583"/>
              <a:ext cx="833243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Therapists Section (Doctor Directory)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890230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43102" y="4312920"/>
            <a:ext cx="7297073" cy="533400"/>
            <a:chOff x="0" y="0"/>
            <a:chExt cx="9729430" cy="711200"/>
          </a:xfrm>
        </p:grpSpPr>
        <p:sp>
          <p:nvSpPr>
            <p:cNvPr id="13" name="TextBox 13"/>
            <p:cNvSpPr txBox="1"/>
            <p:nvPr/>
          </p:nvSpPr>
          <p:spPr>
            <a:xfrm>
              <a:off x="1397000" y="10583"/>
              <a:ext cx="833243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AI-Powered Psychological Testing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890230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343102" y="5440680"/>
            <a:ext cx="7297073" cy="533400"/>
            <a:chOff x="0" y="0"/>
            <a:chExt cx="9729430" cy="711200"/>
          </a:xfrm>
        </p:grpSpPr>
        <p:sp>
          <p:nvSpPr>
            <p:cNvPr id="16" name="TextBox 16"/>
            <p:cNvSpPr txBox="1"/>
            <p:nvPr/>
          </p:nvSpPr>
          <p:spPr>
            <a:xfrm>
              <a:off x="1397000" y="10583"/>
              <a:ext cx="833243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AI-Driven Chatbot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890230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 dirty="0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43102" y="6568440"/>
            <a:ext cx="7297073" cy="533400"/>
            <a:chOff x="0" y="0"/>
            <a:chExt cx="9729430" cy="711200"/>
          </a:xfrm>
        </p:grpSpPr>
        <p:sp>
          <p:nvSpPr>
            <p:cNvPr id="19" name="TextBox 19"/>
            <p:cNvSpPr txBox="1"/>
            <p:nvPr/>
          </p:nvSpPr>
          <p:spPr>
            <a:xfrm>
              <a:off x="1397000" y="10583"/>
              <a:ext cx="833243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Positive Notifications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890230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43102" y="7696200"/>
            <a:ext cx="7297073" cy="533400"/>
            <a:chOff x="0" y="0"/>
            <a:chExt cx="9729430" cy="711200"/>
          </a:xfrm>
        </p:grpSpPr>
        <p:sp>
          <p:nvSpPr>
            <p:cNvPr id="22" name="TextBox 22"/>
            <p:cNvSpPr txBox="1"/>
            <p:nvPr/>
          </p:nvSpPr>
          <p:spPr>
            <a:xfrm>
              <a:off x="1397000" y="10583"/>
              <a:ext cx="833243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Stories Section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76200"/>
              <a:ext cx="890230" cy="7874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500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979540"/>
            <a:ext cx="1179795" cy="1179790"/>
            <a:chOff x="0" y="0"/>
            <a:chExt cx="6350000" cy="63499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851938" y="3979540"/>
            <a:ext cx="1179795" cy="1179790"/>
            <a:chOff x="0" y="0"/>
            <a:chExt cx="6350000" cy="63499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43676" r="-4367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675175" y="3979540"/>
            <a:ext cx="1179795" cy="1179790"/>
            <a:chOff x="0" y="0"/>
            <a:chExt cx="6350000" cy="63499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25187" r="-251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9563" y="1544112"/>
            <a:ext cx="16230600" cy="1276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39"/>
              </a:lnSpc>
              <a:spcBef>
                <a:spcPct val="0"/>
              </a:spcBef>
            </a:pPr>
            <a:r>
              <a:rPr lang="en-US" sz="744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Technology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597852"/>
            <a:ext cx="4584125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r>
              <a:rPr lang="en-US" sz="3600" b="1">
                <a:solidFill>
                  <a:srgbClr val="5E5E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Frontend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265127"/>
            <a:ext cx="4584125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HTML5,</a:t>
            </a:r>
            <a:r>
              <a:rPr lang="en-US" sz="2799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 CSS3, JavaScript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1938" y="5597852"/>
            <a:ext cx="4584125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r>
              <a:rPr lang="en-US" sz="3600" b="1">
                <a:solidFill>
                  <a:srgbClr val="5E5E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Backend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75175" y="5597852"/>
            <a:ext cx="4584125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80"/>
              </a:lnSpc>
              <a:spcBef>
                <a:spcPct val="0"/>
              </a:spcBef>
            </a:pPr>
            <a:r>
              <a:rPr lang="en-US" sz="3600" b="1">
                <a:solidFill>
                  <a:srgbClr val="5E5E5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Tools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9563" y="6825561"/>
            <a:ext cx="4584125" cy="103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2799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actJS, Bootstrap, Fetch 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 u="none">
              <a:solidFill>
                <a:srgbClr val="5E5E5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51938" y="6265127"/>
            <a:ext cx="4584125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799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ode.js &amp; Express.js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2369" y="6861121"/>
            <a:ext cx="4584125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Mong</a:t>
            </a:r>
            <a:r>
              <a:rPr lang="en-US" sz="2799" u="none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oDB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75175" y="6265127"/>
            <a:ext cx="4584125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Pinecone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75175" y="6861121"/>
            <a:ext cx="4584125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rPr>
              <a:t>Figma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07960" y="0"/>
            <a:ext cx="9688858" cy="10287000"/>
            <a:chOff x="0" y="0"/>
            <a:chExt cx="995727" cy="1057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5727" cy="1057198"/>
            </a:xfrm>
            <a:custGeom>
              <a:avLst/>
              <a:gdLst/>
              <a:ahLst/>
              <a:cxnLst/>
              <a:rect l="l" t="t" r="r" b="b"/>
              <a:pathLst>
                <a:path w="995727" h="1057198">
                  <a:moveTo>
                    <a:pt x="79905" y="0"/>
                  </a:moveTo>
                  <a:lnTo>
                    <a:pt x="915822" y="0"/>
                  </a:lnTo>
                  <a:cubicBezTo>
                    <a:pt x="937014" y="0"/>
                    <a:pt x="957338" y="8419"/>
                    <a:pt x="972323" y="23404"/>
                  </a:cubicBezTo>
                  <a:cubicBezTo>
                    <a:pt x="987308" y="38389"/>
                    <a:pt x="995727" y="58713"/>
                    <a:pt x="995727" y="79905"/>
                  </a:cubicBezTo>
                  <a:lnTo>
                    <a:pt x="995727" y="977293"/>
                  </a:lnTo>
                  <a:cubicBezTo>
                    <a:pt x="995727" y="998485"/>
                    <a:pt x="987308" y="1018809"/>
                    <a:pt x="972323" y="1033794"/>
                  </a:cubicBezTo>
                  <a:cubicBezTo>
                    <a:pt x="957338" y="1048780"/>
                    <a:pt x="937014" y="1057198"/>
                    <a:pt x="915822" y="1057198"/>
                  </a:cubicBezTo>
                  <a:lnTo>
                    <a:pt x="79905" y="1057198"/>
                  </a:lnTo>
                  <a:cubicBezTo>
                    <a:pt x="58713" y="1057198"/>
                    <a:pt x="38389" y="1048780"/>
                    <a:pt x="23404" y="1033794"/>
                  </a:cubicBezTo>
                  <a:cubicBezTo>
                    <a:pt x="8419" y="1018809"/>
                    <a:pt x="0" y="998485"/>
                    <a:pt x="0" y="977293"/>
                  </a:cubicBezTo>
                  <a:lnTo>
                    <a:pt x="0" y="79905"/>
                  </a:lnTo>
                  <a:cubicBezTo>
                    <a:pt x="0" y="58713"/>
                    <a:pt x="8419" y="38389"/>
                    <a:pt x="23404" y="23404"/>
                  </a:cubicBezTo>
                  <a:cubicBezTo>
                    <a:pt x="38389" y="8419"/>
                    <a:pt x="58713" y="0"/>
                    <a:pt x="79905" y="0"/>
                  </a:cubicBezTo>
                  <a:close/>
                </a:path>
              </a:pathLst>
            </a:custGeom>
            <a:blipFill>
              <a:blip r:embed="rId2"/>
              <a:stretch>
                <a:fillRect l="-25594" r="-3372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56123" y="1595505"/>
            <a:ext cx="8384422" cy="6834732"/>
            <a:chOff x="0" y="0"/>
            <a:chExt cx="11179230" cy="9112976"/>
          </a:xfrm>
        </p:grpSpPr>
        <p:sp>
          <p:nvSpPr>
            <p:cNvPr id="5" name="TextBox 5"/>
            <p:cNvSpPr txBox="1"/>
            <p:nvPr/>
          </p:nvSpPr>
          <p:spPr>
            <a:xfrm>
              <a:off x="161667" y="-161925"/>
              <a:ext cx="10356836" cy="346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9806"/>
                </a:lnSpc>
              </a:pPr>
              <a:r>
                <a:rPr lang="en-US" sz="8171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Artificial Intelligence (AI)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61667" y="4164064"/>
              <a:ext cx="10356836" cy="49489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7895" lvl="1" indent="-268948" algn="l">
                <a:lnSpc>
                  <a:spcPts val="3238"/>
                </a:lnSpc>
                <a:buFont typeface="Arial"/>
                <a:buChar char="•"/>
              </a:pP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Based on recent research (e.g., [</a:t>
              </a:r>
              <a:r>
                <a:rPr lang="en-US" sz="2491" u="sng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  <a:hlinkClick r:id="rId3" action="ppaction://hlinksldjump"/>
                </a:rPr>
                <a:t>4</a:t>
              </a: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], [</a:t>
              </a:r>
              <a:r>
                <a:rPr lang="en-US" sz="2491" u="sng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  <a:hlinkClick r:id="rId3" action="ppaction://hlinksldjump"/>
                </a:rPr>
                <a:t>5</a:t>
              </a: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], [</a:t>
              </a:r>
              <a:r>
                <a:rPr lang="en-US" sz="2491" u="sng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  <a:hlinkClick r:id="rId3" action="ppaction://hlinksldjump"/>
                </a:rPr>
                <a:t>6</a:t>
              </a: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]), we experimented with various machine learning models to ensure optimal performance. </a:t>
              </a:r>
            </a:p>
            <a:p>
              <a:pPr algn="l">
                <a:lnSpc>
                  <a:spcPts val="3238"/>
                </a:lnSpc>
              </a:pPr>
              <a:endParaRPr lang="en-US" sz="2491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537895" lvl="1" indent="-268948" algn="l">
                <a:lnSpc>
                  <a:spcPts val="3238"/>
                </a:lnSpc>
                <a:buFont typeface="Arial"/>
                <a:buChar char="•"/>
              </a:pP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Our approach also incorporates Retrieval-Augmented Generation (RAG), which, based on studies like [</a:t>
              </a:r>
              <a:r>
                <a:rPr lang="en-US" sz="2491" u="sng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  <a:hlinkClick r:id="rId3" action="ppaction://hlinksldjump"/>
                </a:rPr>
                <a:t>7</a:t>
              </a: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] and [</a:t>
              </a:r>
              <a:r>
                <a:rPr lang="en-US" sz="2491" u="sng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  <a:hlinkClick r:id="rId3" action="ppaction://hlinksldjump"/>
                </a:rPr>
                <a:t>8</a:t>
              </a:r>
              <a:r>
                <a:rPr lang="en-US" sz="2491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], has proven highly effective in improving model performance, especially within medical and mental health contexts.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3723053"/>
              <a:ext cx="11179230" cy="0"/>
            </a:xfrm>
            <a:prstGeom prst="line">
              <a:avLst/>
            </a:prstGeom>
            <a:ln w="139700" cap="flat">
              <a:solidFill>
                <a:srgbClr val="272C3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4900"/>
            <a:ext cx="14742765" cy="103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92"/>
              </a:lnSpc>
            </a:pPr>
            <a:r>
              <a:rPr lang="en-US" sz="7356" b="1" u="none">
                <a:solidFill>
                  <a:srgbClr val="3F69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Psychological Tests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050920" y="3451052"/>
            <a:ext cx="12186161" cy="1428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51"/>
              </a:lnSpc>
            </a:pPr>
            <a:r>
              <a:rPr lang="en-US" sz="2679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Panic Disorder Detection</a:t>
            </a:r>
          </a:p>
          <a:p>
            <a:pPr marL="0" lvl="0" indent="0" algn="just">
              <a:lnSpc>
                <a:spcPts val="3653"/>
              </a:lnSpc>
            </a:pPr>
            <a:r>
              <a:rPr lang="en-US" sz="2609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Uses </a:t>
            </a:r>
            <a:r>
              <a:rPr lang="en-US" sz="2609" b="1" u="none" dirty="0" err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XGBoost</a:t>
            </a:r>
            <a:r>
              <a:rPr lang="en-US" sz="2609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 Classifier (97.62% accuracy) on a Panic Disorder Detection Dataset.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050920" y="7398772"/>
            <a:ext cx="12186161" cy="141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48"/>
              </a:lnSpc>
            </a:pPr>
            <a:r>
              <a:rPr lang="en-US" sz="2677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Anxiety Prediction</a:t>
            </a:r>
          </a:p>
          <a:p>
            <a:pPr marL="0" lvl="0" indent="0" algn="just">
              <a:lnSpc>
                <a:spcPts val="3653"/>
              </a:lnSpc>
            </a:pPr>
            <a:r>
              <a:rPr lang="en-US" sz="2610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Uses Support Vector Machine (SVM) (93.45% accuracy) on a Social Anxiety Dataset.</a:t>
            </a:r>
          </a:p>
        </p:txBody>
      </p:sp>
      <p:sp>
        <p:nvSpPr>
          <p:cNvPr id="5" name="AutoShape 5"/>
          <p:cNvSpPr/>
          <p:nvPr/>
        </p:nvSpPr>
        <p:spPr>
          <a:xfrm>
            <a:off x="2067130" y="4086498"/>
            <a:ext cx="74483" cy="3973647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067130" y="382906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2067130" y="5863086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2067130" y="7743720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571500" h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050920" y="5442623"/>
            <a:ext cx="12186161" cy="1418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48"/>
              </a:lnSpc>
            </a:pPr>
            <a:r>
              <a:rPr lang="en-US" sz="2677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Social Media Mental Health</a:t>
            </a:r>
          </a:p>
          <a:p>
            <a:pPr marL="0" lvl="0" indent="0" algn="just">
              <a:lnSpc>
                <a:spcPts val="3653"/>
              </a:lnSpc>
            </a:pPr>
            <a:r>
              <a:rPr lang="en-US" sz="2610" b="1" u="none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Uses Logistic Regression (98% accuracy) on a Social Media and Mental Health Dataset.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606779" y="2704062"/>
            <a:ext cx="2806247" cy="1994495"/>
            <a:chOff x="0" y="0"/>
            <a:chExt cx="1143607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607" cy="812800"/>
            </a:xfrm>
            <a:custGeom>
              <a:avLst/>
              <a:gdLst/>
              <a:ahLst/>
              <a:cxnLst/>
              <a:rect l="l" t="t" r="r" b="b"/>
              <a:pathLst>
                <a:path w="1143607" h="812800">
                  <a:moveTo>
                    <a:pt x="571803" y="0"/>
                  </a:moveTo>
                  <a:cubicBezTo>
                    <a:pt x="256005" y="0"/>
                    <a:pt x="0" y="181951"/>
                    <a:pt x="0" y="406400"/>
                  </a:cubicBezTo>
                  <a:cubicBezTo>
                    <a:pt x="0" y="630849"/>
                    <a:pt x="256005" y="812800"/>
                    <a:pt x="571803" y="812800"/>
                  </a:cubicBezTo>
                  <a:cubicBezTo>
                    <a:pt x="887602" y="812800"/>
                    <a:pt x="1143607" y="630849"/>
                    <a:pt x="1143607" y="406400"/>
                  </a:cubicBezTo>
                  <a:cubicBezTo>
                    <a:pt x="1143607" y="181951"/>
                    <a:pt x="887602" y="0"/>
                    <a:pt x="571803" y="0"/>
                  </a:cubicBezTo>
                  <a:close/>
                </a:path>
              </a:pathLst>
            </a:custGeom>
            <a:solidFill>
              <a:srgbClr val="2EE5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7213" y="28575"/>
              <a:ext cx="929180" cy="708025"/>
            </a:xfrm>
            <a:prstGeom prst="rect">
              <a:avLst/>
            </a:prstGeom>
          </p:spPr>
          <p:txBody>
            <a:bodyPr lIns="32831" tIns="32831" rIns="32831" bIns="32831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223522" y="2761931"/>
            <a:ext cx="2806247" cy="1994495"/>
            <a:chOff x="0" y="0"/>
            <a:chExt cx="1143607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607" cy="812800"/>
            </a:xfrm>
            <a:custGeom>
              <a:avLst/>
              <a:gdLst/>
              <a:ahLst/>
              <a:cxnLst/>
              <a:rect l="l" t="t" r="r" b="b"/>
              <a:pathLst>
                <a:path w="1143607" h="812800">
                  <a:moveTo>
                    <a:pt x="571803" y="0"/>
                  </a:moveTo>
                  <a:cubicBezTo>
                    <a:pt x="256005" y="0"/>
                    <a:pt x="0" y="181951"/>
                    <a:pt x="0" y="406400"/>
                  </a:cubicBezTo>
                  <a:cubicBezTo>
                    <a:pt x="0" y="630849"/>
                    <a:pt x="256005" y="812800"/>
                    <a:pt x="571803" y="812800"/>
                  </a:cubicBezTo>
                  <a:cubicBezTo>
                    <a:pt x="887602" y="812800"/>
                    <a:pt x="1143607" y="630849"/>
                    <a:pt x="1143607" y="406400"/>
                  </a:cubicBezTo>
                  <a:cubicBezTo>
                    <a:pt x="1143607" y="181951"/>
                    <a:pt x="887602" y="0"/>
                    <a:pt x="571803" y="0"/>
                  </a:cubicBezTo>
                  <a:close/>
                </a:path>
              </a:pathLst>
            </a:custGeom>
            <a:solidFill>
              <a:srgbClr val="2EE5A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7213" y="28575"/>
              <a:ext cx="929180" cy="708025"/>
            </a:xfrm>
            <a:prstGeom prst="rect">
              <a:avLst/>
            </a:prstGeom>
          </p:spPr>
          <p:txBody>
            <a:bodyPr lIns="32831" tIns="32831" rIns="32831" bIns="32831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 dirty="0">
                  <a:solidFill>
                    <a:srgbClr val="3F695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Generation Phase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835654" y="7789166"/>
            <a:ext cx="910147" cy="1003168"/>
          </a:xfrm>
          <a:custGeom>
            <a:avLst/>
            <a:gdLst/>
            <a:ahLst/>
            <a:cxnLst/>
            <a:rect l="l" t="t" r="r" b="b"/>
            <a:pathLst>
              <a:path w="910147" h="1003168">
                <a:moveTo>
                  <a:pt x="0" y="0"/>
                </a:moveTo>
                <a:lnTo>
                  <a:pt x="910147" y="0"/>
                </a:lnTo>
                <a:lnTo>
                  <a:pt x="910147" y="1003168"/>
                </a:lnTo>
                <a:lnTo>
                  <a:pt x="0" y="1003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28700" y="1104900"/>
            <a:ext cx="14742765" cy="10364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092"/>
              </a:lnSpc>
            </a:pPr>
            <a:r>
              <a:rPr lang="en-US" sz="7356" b="1" u="none">
                <a:solidFill>
                  <a:srgbClr val="3F695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AI-Powered Chatbot with RAG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48351" y="4926586"/>
            <a:ext cx="6067610" cy="251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Utilizes “sentence-transformers/all-mpnet-base-v2” embedding model and Pinecone (vector database) for similarity searches, retrieving top relevant document chunks.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06779" y="3159070"/>
            <a:ext cx="2806247" cy="1085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6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Retrieval</a:t>
            </a:r>
          </a:p>
          <a:p>
            <a:pPr algn="ctr">
              <a:lnSpc>
                <a:spcPts val="4196"/>
              </a:lnSpc>
              <a:spcBef>
                <a:spcPct val="0"/>
              </a:spcBef>
            </a:pPr>
            <a:r>
              <a:rPr lang="en-US" sz="2997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 Phase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2841" y="4926586"/>
            <a:ext cx="6067610" cy="251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Powered by </a:t>
            </a:r>
            <a:r>
              <a:rPr lang="en-US" sz="2799" dirty="0" err="1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MistralAI’s</a:t>
            </a:r>
            <a:r>
              <a:rPr lang="en-US" sz="2799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 “Mixtral-8x7B-Instruct-v0.1”, a sparse Mixture-of-Experts (</a:t>
            </a:r>
            <a:r>
              <a:rPr lang="en-US" sz="2799" dirty="0" err="1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MoE</a:t>
            </a:r>
            <a:r>
              <a:rPr lang="en-US" sz="2799" dirty="0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) model, chosen for efficiency, performance, and open-source nature.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865990" y="7820850"/>
            <a:ext cx="8484036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Built on the Mental Health Counseling Conversations Dataset (3,512 anonymized therapist-client dialogues).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619574"/>
            <a:ext cx="4042250" cy="1217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29"/>
              </a:lnSpc>
            </a:pPr>
            <a:r>
              <a:rPr lang="en-US" sz="7449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277696" y="1901549"/>
            <a:ext cx="5014665" cy="3241951"/>
            <a:chOff x="0" y="0"/>
            <a:chExt cx="6686219" cy="4322602"/>
          </a:xfrm>
        </p:grpSpPr>
        <p:sp>
          <p:nvSpPr>
            <p:cNvPr id="4" name="Freeform 4"/>
            <p:cNvSpPr/>
            <p:nvPr/>
          </p:nvSpPr>
          <p:spPr>
            <a:xfrm>
              <a:off x="107074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5" y="0"/>
                  </a:lnTo>
                  <a:lnTo>
                    <a:pt x="6579145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8247" y="33242"/>
              <a:ext cx="4876800" cy="1618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User Management Module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162" y="2167487"/>
              <a:ext cx="5522968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Handles user registration, login, authentication, and account administration.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627357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4635" y="1901549"/>
            <a:ext cx="5014665" cy="3241951"/>
            <a:chOff x="0" y="0"/>
            <a:chExt cx="6686219" cy="4322602"/>
          </a:xfrm>
        </p:grpSpPr>
        <p:sp>
          <p:nvSpPr>
            <p:cNvPr id="9" name="Freeform 9"/>
            <p:cNvSpPr/>
            <p:nvPr/>
          </p:nvSpPr>
          <p:spPr>
            <a:xfrm>
              <a:off x="107074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5" y="0"/>
                  </a:lnTo>
                  <a:lnTo>
                    <a:pt x="6579145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8247" y="33242"/>
              <a:ext cx="4876800" cy="1618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Psychological Tests Module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162" y="2167487"/>
              <a:ext cx="6051057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Integrates machine learning models for standardized psychological assessments.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0" y="1627357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77696" y="5472697"/>
            <a:ext cx="5014665" cy="3386153"/>
            <a:chOff x="0" y="0"/>
            <a:chExt cx="6686219" cy="4514870"/>
          </a:xfrm>
        </p:grpSpPr>
        <p:sp>
          <p:nvSpPr>
            <p:cNvPr id="14" name="Freeform 14"/>
            <p:cNvSpPr/>
            <p:nvPr/>
          </p:nvSpPr>
          <p:spPr>
            <a:xfrm>
              <a:off x="107074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5" y="0"/>
                  </a:lnTo>
                  <a:lnTo>
                    <a:pt x="6579145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4710" y="280670"/>
              <a:ext cx="4876800" cy="81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Chatbot Module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162" y="2167487"/>
              <a:ext cx="6051057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Provides an intelligent assistant for immediate guidance and emotional support.</a:t>
              </a: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0" y="1627357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1D4A278-71C4-FE3B-798B-D76CE19320B2}"/>
              </a:ext>
            </a:extLst>
          </p:cNvPr>
          <p:cNvGrpSpPr/>
          <p:nvPr/>
        </p:nvGrpSpPr>
        <p:grpSpPr>
          <a:xfrm>
            <a:off x="12244635" y="5472697"/>
            <a:ext cx="5014665" cy="3386152"/>
            <a:chOff x="12244635" y="5472697"/>
            <a:chExt cx="5014665" cy="3386152"/>
          </a:xfrm>
        </p:grpSpPr>
        <p:sp>
          <p:nvSpPr>
            <p:cNvPr id="18" name="Freeform 18"/>
            <p:cNvSpPr/>
            <p:nvPr/>
          </p:nvSpPr>
          <p:spPr>
            <a:xfrm>
              <a:off x="12244635" y="5472697"/>
              <a:ext cx="4934359" cy="1363678"/>
            </a:xfrm>
            <a:custGeom>
              <a:avLst/>
              <a:gdLst/>
              <a:ahLst/>
              <a:cxnLst/>
              <a:rect l="l" t="t" r="r" b="b"/>
              <a:pathLst>
                <a:path w="4934359" h="1363678">
                  <a:moveTo>
                    <a:pt x="0" y="0"/>
                  </a:moveTo>
                  <a:lnTo>
                    <a:pt x="4934360" y="0"/>
                  </a:lnTo>
                  <a:lnTo>
                    <a:pt x="4934360" y="1363677"/>
                  </a:lnTo>
                  <a:lnTo>
                    <a:pt x="0" y="1363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984743" y="5838518"/>
              <a:ext cx="3657600" cy="647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Stories Module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721007" y="7218700"/>
              <a:ext cx="4538293" cy="1346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safe space for users to share experiences and provide peer support.</a:t>
              </a:r>
            </a:p>
          </p:txBody>
        </p:sp>
        <p:sp>
          <p:nvSpPr>
            <p:cNvPr id="21" name="AutoShape 21"/>
            <p:cNvSpPr/>
            <p:nvPr/>
          </p:nvSpPr>
          <p:spPr>
            <a:xfrm>
              <a:off x="12244635" y="6837415"/>
              <a:ext cx="189319" cy="2021434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619574"/>
            <a:ext cx="4145871" cy="1217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29"/>
              </a:lnSpc>
            </a:pPr>
            <a:r>
              <a:rPr lang="en-US" sz="7449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Features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277696" y="1901549"/>
            <a:ext cx="5014665" cy="3386153"/>
            <a:chOff x="0" y="0"/>
            <a:chExt cx="6686219" cy="4514870"/>
          </a:xfrm>
        </p:grpSpPr>
        <p:sp>
          <p:nvSpPr>
            <p:cNvPr id="4" name="Freeform 4"/>
            <p:cNvSpPr/>
            <p:nvPr/>
          </p:nvSpPr>
          <p:spPr>
            <a:xfrm>
              <a:off x="107074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5" y="0"/>
                  </a:lnTo>
                  <a:lnTo>
                    <a:pt x="6579145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58247" y="33242"/>
              <a:ext cx="4876800" cy="1618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Doctor Directory Module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35162" y="2167487"/>
              <a:ext cx="6051057" cy="2347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Allows licensed mental health professionals to register and provides a directory for users.</a:t>
              </a:r>
            </a:p>
          </p:txBody>
        </p:sp>
        <p:sp>
          <p:nvSpPr>
            <p:cNvPr id="7" name="AutoShape 7"/>
            <p:cNvSpPr/>
            <p:nvPr/>
          </p:nvSpPr>
          <p:spPr>
            <a:xfrm>
              <a:off x="0" y="1627357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244635" y="1901549"/>
            <a:ext cx="5014665" cy="3241951"/>
            <a:chOff x="0" y="0"/>
            <a:chExt cx="6686219" cy="4322602"/>
          </a:xfrm>
        </p:grpSpPr>
        <p:sp>
          <p:nvSpPr>
            <p:cNvPr id="9" name="Freeform 9"/>
            <p:cNvSpPr/>
            <p:nvPr/>
          </p:nvSpPr>
          <p:spPr>
            <a:xfrm>
              <a:off x="107074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5" y="0"/>
                  </a:lnTo>
                  <a:lnTo>
                    <a:pt x="6579145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58247" y="415733"/>
              <a:ext cx="4876800" cy="81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Articles Module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5162" y="2167487"/>
              <a:ext cx="6051057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platform for doctors to publish informative content and raise awareness.</a:t>
              </a:r>
            </a:p>
          </p:txBody>
        </p:sp>
        <p:sp>
          <p:nvSpPr>
            <p:cNvPr id="12" name="AutoShape 12"/>
            <p:cNvSpPr/>
            <p:nvPr/>
          </p:nvSpPr>
          <p:spPr>
            <a:xfrm>
              <a:off x="0" y="1627357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277696" y="5472697"/>
            <a:ext cx="5014665" cy="3241951"/>
            <a:chOff x="0" y="0"/>
            <a:chExt cx="6686219" cy="4322602"/>
          </a:xfrm>
        </p:grpSpPr>
        <p:sp>
          <p:nvSpPr>
            <p:cNvPr id="14" name="Freeform 14"/>
            <p:cNvSpPr/>
            <p:nvPr/>
          </p:nvSpPr>
          <p:spPr>
            <a:xfrm>
              <a:off x="107074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5" y="0"/>
                  </a:lnTo>
                  <a:lnTo>
                    <a:pt x="6579145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5162" y="283083"/>
              <a:ext cx="5489259" cy="81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Positive Notifications 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5162" y="2167487"/>
              <a:ext cx="6051057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Delivers regular motivational messages and mental wellness tips.</a:t>
              </a:r>
            </a:p>
          </p:txBody>
        </p:sp>
        <p:sp>
          <p:nvSpPr>
            <p:cNvPr id="17" name="AutoShape 17"/>
            <p:cNvSpPr/>
            <p:nvPr/>
          </p:nvSpPr>
          <p:spPr>
            <a:xfrm>
              <a:off x="0" y="1627357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244635" y="5476875"/>
            <a:ext cx="5014665" cy="3381974"/>
            <a:chOff x="0" y="0"/>
            <a:chExt cx="6686219" cy="45092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579146" cy="1818237"/>
            </a:xfrm>
            <a:custGeom>
              <a:avLst/>
              <a:gdLst/>
              <a:ahLst/>
              <a:cxnLst/>
              <a:rect l="l" t="t" r="r" b="b"/>
              <a:pathLst>
                <a:path w="6579146" h="1818237">
                  <a:moveTo>
                    <a:pt x="0" y="0"/>
                  </a:moveTo>
                  <a:lnTo>
                    <a:pt x="6579146" y="0"/>
                  </a:lnTo>
                  <a:lnTo>
                    <a:pt x="6579146" y="1818237"/>
                  </a:lnTo>
                  <a:lnTo>
                    <a:pt x="0" y="18182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5162" y="427720"/>
              <a:ext cx="5699409" cy="8183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Feedback Mechanism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5162" y="2354184"/>
              <a:ext cx="6051057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Incorporates a system for users to report issues and suggest improvements.</a:t>
              </a:r>
            </a:p>
          </p:txBody>
        </p:sp>
        <p:sp>
          <p:nvSpPr>
            <p:cNvPr id="22" name="AutoShape 22"/>
            <p:cNvSpPr/>
            <p:nvPr/>
          </p:nvSpPr>
          <p:spPr>
            <a:xfrm>
              <a:off x="0" y="1814054"/>
              <a:ext cx="252426" cy="2695245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143000" y="114300"/>
            <a:ext cx="5458063" cy="142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29"/>
              </a:lnSpc>
            </a:pPr>
            <a:r>
              <a:rPr lang="en-US" sz="7449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Demo Video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name="WindowsMediaPlayer1" r:id="rId1" imgW="16230600" imgH="7962840"/>
        </mc:Choice>
        <mc:Fallback>
          <p:control name="WindowsMediaPlayer1" r:id="rId1" imgW="16230600" imgH="7962840">
            <p:pic>
              <p:nvPicPr>
                <p:cNvPr id="4" name="WindowsMediaPlayer1">
                  <a:extLst>
                    <a:ext uri="{FF2B5EF4-FFF2-40B4-BE49-F238E27FC236}">
                      <a16:creationId xmlns:a16="http://schemas.microsoft.com/office/drawing/2014/main" id="{64AD4504-BD40-6D0A-D735-A9260CA18D09}"/>
                    </a:ext>
                  </a:extLst>
                </p:cNvPr>
                <p:cNvPicPr>
                  <a:picLocks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8700" y="1509713"/>
                  <a:ext cx="16230600" cy="7962900"/>
                </a:xfrm>
                <a:prstGeom prst="rect">
                  <a:avLst/>
                </a:prstGeom>
              </p:spPr>
            </p:pic>
          </p:control>
        </mc:Fallback>
      </mc:AlternateContent>
    </p:controls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4670" y="2918027"/>
            <a:ext cx="5849530" cy="1217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29"/>
              </a:lnSpc>
            </a:pPr>
            <a:r>
              <a:rPr lang="en-US" sz="7449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4670" y="4692594"/>
            <a:ext cx="6620828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The MindFul project has a strong foundation and significant potential for future enhancements and expansions to further improve mental health support:</a:t>
            </a:r>
          </a:p>
        </p:txBody>
      </p:sp>
      <p:sp>
        <p:nvSpPr>
          <p:cNvPr id="5" name="AutoShape 5"/>
          <p:cNvSpPr/>
          <p:nvPr/>
        </p:nvSpPr>
        <p:spPr>
          <a:xfrm>
            <a:off x="8096023" y="3461210"/>
            <a:ext cx="74483" cy="397364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096023" y="3203777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8096023" y="5237798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096023" y="711843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9144000" y="3203777"/>
            <a:ext cx="8577501" cy="1505010"/>
            <a:chOff x="0" y="0"/>
            <a:chExt cx="11436667" cy="2006679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123825"/>
              <a:ext cx="4519771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Mobile Application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66406"/>
              <a:ext cx="11436667" cy="1340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Increase accessibility and engagement through a dedicated smartphone app.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058048" y="5143500"/>
            <a:ext cx="8577501" cy="1009710"/>
            <a:chOff x="0" y="0"/>
            <a:chExt cx="11436667" cy="1346279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123825"/>
              <a:ext cx="4519771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Voice Interaction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666406"/>
              <a:ext cx="11436667" cy="6798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Enable voice-based chatbot for improved accessibility.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058048" y="6839847"/>
            <a:ext cx="8577501" cy="1557475"/>
            <a:chOff x="0" y="0"/>
            <a:chExt cx="11436667" cy="2076633"/>
          </a:xfrm>
        </p:grpSpPr>
        <p:sp>
          <p:nvSpPr>
            <p:cNvPr id="16" name="TextBox 16"/>
            <p:cNvSpPr txBox="1"/>
            <p:nvPr/>
          </p:nvSpPr>
          <p:spPr>
            <a:xfrm>
              <a:off x="0" y="-123825"/>
              <a:ext cx="8156246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Advanced AI Recommendations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736360"/>
              <a:ext cx="11436667" cy="13402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dirty="0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Offer personalized content and coping strategies based on user data.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4670" y="2918027"/>
            <a:ext cx="5775047" cy="12177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29"/>
              </a:lnSpc>
            </a:pPr>
            <a:r>
              <a:rPr lang="en-US" sz="7449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Future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4670" y="4692594"/>
            <a:ext cx="6620828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The MindFul project has a strong foundation and significant potential for future enhancements and expansions to further improve mental health support: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8096023" y="3203777"/>
            <a:ext cx="571500" cy="4486155"/>
            <a:chOff x="0" y="0"/>
            <a:chExt cx="762000" cy="5981539"/>
          </a:xfrm>
        </p:grpSpPr>
        <p:sp>
          <p:nvSpPr>
            <p:cNvPr id="5" name="AutoShape 5"/>
            <p:cNvSpPr/>
            <p:nvPr/>
          </p:nvSpPr>
          <p:spPr>
            <a:xfrm>
              <a:off x="0" y="343244"/>
              <a:ext cx="99311" cy="5298196"/>
            </a:xfrm>
            <a:prstGeom prst="rect">
              <a:avLst/>
            </a:pr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271202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5219539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0" y="3079952"/>
            <a:ext cx="3849173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Multilingual Support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3656850"/>
            <a:ext cx="8577501" cy="103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Expand beyond English and Arabic to reach a global audience.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58048" y="5019675"/>
            <a:ext cx="6375566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Therapist–Patient Communication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5600700"/>
            <a:ext cx="8577501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Add secure messaging and video consultations.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058048" y="6839847"/>
            <a:ext cx="8577501" cy="2548075"/>
            <a:chOff x="0" y="0"/>
            <a:chExt cx="11436667" cy="3397433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23825"/>
              <a:ext cx="8156246" cy="7334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 b="1">
                  <a:solidFill>
                    <a:srgbClr val="3F695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Progress Dashboard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736360"/>
              <a:ext cx="11436667" cy="26610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3F6959"/>
                  </a:solidFill>
                  <a:latin typeface="Arial"/>
                  <a:ea typeface="Arial"/>
                  <a:cs typeface="Arial"/>
                  <a:sym typeface="Arial"/>
                </a:rPr>
                <a:t>Allow users to track mood, tests, and wellness over time.</a:t>
              </a:r>
            </a:p>
            <a:p>
              <a:pPr algn="l">
                <a:lnSpc>
                  <a:spcPts val="3919"/>
                </a:lnSpc>
              </a:pPr>
              <a:endParaRPr lang="en-US" sz="27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algn="l">
                <a:lnSpc>
                  <a:spcPts val="3919"/>
                </a:lnSpc>
              </a:pPr>
              <a:endParaRPr lang="en-US" sz="27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3520320" y="1469375"/>
            <a:ext cx="11247359" cy="7995850"/>
          </a:xfrm>
          <a:custGeom>
            <a:avLst/>
            <a:gdLst/>
            <a:ahLst/>
            <a:cxnLst/>
            <a:rect l="l" t="t" r="r" b="b"/>
            <a:pathLst>
              <a:path w="11247359" h="7995850">
                <a:moveTo>
                  <a:pt x="11247360" y="0"/>
                </a:moveTo>
                <a:lnTo>
                  <a:pt x="0" y="0"/>
                </a:lnTo>
                <a:lnTo>
                  <a:pt x="0" y="7995850"/>
                </a:lnTo>
                <a:lnTo>
                  <a:pt x="11247360" y="7995850"/>
                </a:lnTo>
                <a:lnTo>
                  <a:pt x="112473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946923" y="-1405929"/>
            <a:ext cx="5750608" cy="5750608"/>
          </a:xfrm>
          <a:custGeom>
            <a:avLst/>
            <a:gdLst/>
            <a:ahLst/>
            <a:cxnLst/>
            <a:rect l="l" t="t" r="r" b="b"/>
            <a:pathLst>
              <a:path w="5750608" h="5750608">
                <a:moveTo>
                  <a:pt x="0" y="0"/>
                </a:moveTo>
                <a:lnTo>
                  <a:pt x="5750608" y="0"/>
                </a:lnTo>
                <a:lnTo>
                  <a:pt x="5750608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561581" y="3109493"/>
            <a:ext cx="9767727" cy="5264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2573" spc="95" dirty="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MindFul successfully delivers a comprehensive, integrated mental health support platform.</a:t>
            </a:r>
          </a:p>
          <a:p>
            <a:pPr algn="l">
              <a:lnSpc>
                <a:spcPts val="3783"/>
              </a:lnSpc>
            </a:pPr>
            <a:r>
              <a:rPr lang="en-US" sz="2573" spc="95" dirty="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It leverages highly accurate AI models for psychological assessments and an empathetic RAG-enhanced chatbot. By fostering a supportive community and improving access to professionals, MindFul effectively addresses mental health challenges, reduces stigma, and provides reliable, culturally relevant content, particularly for the Egyptian context.</a:t>
            </a:r>
          </a:p>
          <a:p>
            <a:pPr algn="l">
              <a:lnSpc>
                <a:spcPts val="3783"/>
              </a:lnSpc>
            </a:pPr>
            <a:r>
              <a:rPr lang="en-US" sz="2573" spc="95" dirty="0">
                <a:solidFill>
                  <a:srgbClr val="EFEFEF"/>
                </a:solidFill>
                <a:latin typeface="Arial"/>
                <a:ea typeface="Arial"/>
                <a:cs typeface="Arial"/>
                <a:sym typeface="Arial"/>
              </a:rPr>
              <a:t>The platform's robust architecture and user-centric design confirm its potential to significantly improve quality of life and foster healthier societies.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31141" y="1769306"/>
            <a:ext cx="5225718" cy="117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449" b="1" spc="-365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04950" y="1574289"/>
            <a:ext cx="7639050" cy="117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449" b="1" spc="-365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339847" y="2649661"/>
            <a:ext cx="13608307" cy="641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[1.1]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businesswire.com/news/home/20250122456222/en/BetterHelp-Surpasses-5-Million-People-Benefiting-from-Online-Therapy-Service"/>
              </a:rPr>
              <a:t>BetterHelp Surpasses 5 Million People Benefiting from Online Therapy Service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[1.2]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firstsession.com/resources/betterhelp-reviews-survey-results"/>
              </a:rPr>
              <a:t>First Session Survey on BetterHelp User Experiences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[2.1]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anulikajoy.com/shezlong"/>
              </a:rPr>
              <a:t>Shezlong: First Online Psychotherapy Platform in Egypt and MENA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[2.2]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ent.news/2025/4/1805.pdf"/>
              </a:rPr>
              <a:t>Shezlong Launches MENA’s First AI Therapy Assistant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[3.1]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woebothealth.com/ais-ability-to-address-gaps/"/>
              </a:rPr>
              <a:t>Woebot Health Study on AI’s Ability to Address Equity and Accessibility Gaps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[3.2]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www.businesswire.com/news/home/20231026083262/en/First-Randomized-Controlled-Trial-Comparing-Woebot-to-Clinician-Led-Psychotherapy-Reveals-Digital-Mental-Health-Intervention-Is-Non-Inferior-in-Reducing-Depressive-Symptoms-Among-Teens"/>
              </a:rPr>
              <a:t>Randomized Controlled Trial Comparing Woebot to Clinician-Led Psychotherapy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[3.3]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www.sciencedirect.com/science/article/pii/S2214782923000374"/>
              </a:rPr>
              <a:t>Study on Therapeutic Bond with Woebot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[4]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www.academia.edu/94614967/Mental_Health_Prediction_Using_Machine_Learning?email_work_card=title"/>
              </a:rPr>
              <a:t>Mental Health Prediction Using Machine Learning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[5]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academia.edu/107403197/Mental_Illness_Prediction_using_Machine_Learning_Algorithms&amp;nav_from=ccf3123e-4deb-4ab5-b6f6-9addedeb5547&amp;rw_pos=undefined"/>
              </a:rPr>
              <a:t>Mental Illness Prediction using Machine Learning Algorithms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[6]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www.academia.edu/92091604/Predicting_Anxiety_Depression_and_Stress_in_Modern_Life_using_Machine_Learning_Algorithms?nav_from=c8e5cf39-f82f-4155-8453-e0d661ebeada"/>
              </a:rPr>
              <a:t>Predicting Anxiety, Depression, and Stress using Machine Learning Algorithms</a:t>
            </a: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[7]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12" tooltip="https://www.researchgate.net/publication/381931623_Retrieval_Augmented_Generation_for_10_Large_Language_Models_and_its_Generalizability_in_Assessing_Medical_Fitness"/>
              </a:rPr>
              <a:t>Retrieval Augmented Generation for 10 Large Language Models and its Generalizability in Assessing Medical Fitness</a:t>
            </a: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74"/>
              </a:lnSpc>
            </a:pPr>
            <a:r>
              <a:rPr lang="en-US" sz="2499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</a:rPr>
              <a:t>[8] </a:t>
            </a:r>
            <a:r>
              <a:rPr lang="en-US" sz="2499" u="sng">
                <a:solidFill>
                  <a:srgbClr val="3F6959"/>
                </a:solidFill>
                <a:latin typeface="Canva Sans"/>
                <a:ea typeface="Canva Sans"/>
                <a:cs typeface="Canva Sans"/>
                <a:sym typeface="Canva Sans"/>
                <a:hlinkClick r:id="rId13" tooltip="https://ieeexplore.ieee.org/document/10815693"/>
              </a:rPr>
              <a:t>JMIR Research on AI in Mental Health (2025)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19077" y="1526896"/>
            <a:ext cx="7639050" cy="1170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2"/>
              </a:lnSpc>
            </a:pPr>
            <a:r>
              <a:rPr lang="en-US" sz="7449" b="1" spc="-365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Datasets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18767" y="2588864"/>
            <a:ext cx="11556208" cy="304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249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Panic Disorder Detection Dataset. </a:t>
            </a:r>
            <a:r>
              <a:rPr lang="en-US" sz="2499" u="sng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2" tooltip="https://www.kaggle.com/datasets/muhammadshahidazeem/panic-disorder-detection-dataset"/>
              </a:rPr>
              <a:t>Kaggle</a:t>
            </a:r>
            <a:r>
              <a:rPr lang="en-US" sz="249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.</a:t>
            </a:r>
          </a:p>
          <a:p>
            <a:pPr algn="l">
              <a:lnSpc>
                <a:spcPts val="6124"/>
              </a:lnSpc>
            </a:pPr>
            <a:r>
              <a:rPr lang="en-US" sz="249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Social Media and Mental Health. </a:t>
            </a:r>
            <a:r>
              <a:rPr lang="en-US" sz="2499" u="sng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3" tooltip="https://www.kaggle.com/datasets/souvikahmed071/social-media-and-mental-health"/>
              </a:rPr>
              <a:t>Kaggle</a:t>
            </a:r>
            <a:r>
              <a:rPr lang="en-US" sz="24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6124"/>
              </a:lnSpc>
            </a:pPr>
            <a:r>
              <a:rPr lang="en-US" sz="249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Social Anxiety Dataset.</a:t>
            </a:r>
            <a:r>
              <a:rPr lang="en-US" sz="24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99" u="sng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4" tooltip="https://www.kaggle.com/datasets/natezhang123/social-anxiety-dataset"/>
              </a:rPr>
              <a:t>Kaggle</a:t>
            </a:r>
            <a:r>
              <a:rPr lang="en-US" sz="24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6124"/>
              </a:lnSpc>
            </a:pPr>
            <a:r>
              <a:rPr lang="en-US" sz="249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Mental Health Counseling Conversations. </a:t>
            </a:r>
            <a:r>
              <a:rPr lang="en-US" sz="2499" u="sng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  <a:hlinkClick r:id="rId5" tooltip="https://huggingface.co/datasets/Amod/mental_health_counseling_conversations"/>
              </a:rPr>
              <a:t>Hugging Face</a:t>
            </a:r>
            <a:r>
              <a:rPr lang="en-US" sz="2499">
                <a:solidFill>
                  <a:srgbClr val="3F695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2499" b="1">
                <a:solidFill>
                  <a:srgbClr val="3F6959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A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96258" y="-450527"/>
            <a:ext cx="19680517" cy="1704491"/>
            <a:chOff x="0" y="0"/>
            <a:chExt cx="5183346" cy="4489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83346" cy="448919"/>
            </a:xfrm>
            <a:custGeom>
              <a:avLst/>
              <a:gdLst/>
              <a:ahLst/>
              <a:cxnLst/>
              <a:rect l="l" t="t" r="r" b="b"/>
              <a:pathLst>
                <a:path w="5183346" h="448919">
                  <a:moveTo>
                    <a:pt x="0" y="0"/>
                  </a:moveTo>
                  <a:lnTo>
                    <a:pt x="5183346" y="0"/>
                  </a:lnTo>
                  <a:lnTo>
                    <a:pt x="5183346" y="448919"/>
                  </a:lnTo>
                  <a:lnTo>
                    <a:pt x="0" y="448919"/>
                  </a:lnTo>
                  <a:close/>
                </a:path>
              </a:pathLst>
            </a:custGeom>
            <a:solidFill>
              <a:srgbClr val="84B572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183346" cy="506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63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4141979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Graduation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85339" y="344568"/>
            <a:ext cx="311732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 dirty="0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MindFul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84590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330761" y="344568"/>
            <a:ext cx="1406261" cy="448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44745" y="4527746"/>
            <a:ext cx="10598510" cy="2084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18"/>
              </a:lnSpc>
            </a:pPr>
            <a:r>
              <a:rPr lang="en-US" sz="16402" b="1" spc="-803" dirty="0">
                <a:solidFill>
                  <a:srgbClr val="343434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</a:t>
            </a:r>
          </a:p>
        </p:txBody>
      </p:sp>
      <p:sp>
        <p:nvSpPr>
          <p:cNvPr id="11" name="Freeform 11"/>
          <p:cNvSpPr/>
          <p:nvPr/>
        </p:nvSpPr>
        <p:spPr>
          <a:xfrm>
            <a:off x="-3411269" y="3700172"/>
            <a:ext cx="9598990" cy="9598990"/>
          </a:xfrm>
          <a:custGeom>
            <a:avLst/>
            <a:gdLst/>
            <a:ahLst/>
            <a:cxnLst/>
            <a:rect l="l" t="t" r="r" b="b"/>
            <a:pathLst>
              <a:path w="9598990" h="9598990">
                <a:moveTo>
                  <a:pt x="0" y="0"/>
                </a:moveTo>
                <a:lnTo>
                  <a:pt x="9598990" y="0"/>
                </a:lnTo>
                <a:lnTo>
                  <a:pt x="9598990" y="9598990"/>
                </a:lnTo>
                <a:lnTo>
                  <a:pt x="0" y="959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|6|0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1232</Words>
  <Application>Microsoft Office PowerPoint</Application>
  <PresentationFormat>Custom</PresentationFormat>
  <Paragraphs>176</Paragraphs>
  <Slides>22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Open Sans Bold</vt:lpstr>
      <vt:lpstr>TT Hoves</vt:lpstr>
      <vt:lpstr>Meiryo</vt:lpstr>
      <vt:lpstr>TT Hoves Bold</vt:lpstr>
      <vt:lpstr>Canva Sans Bold</vt:lpstr>
      <vt:lpstr>Calibri</vt:lpstr>
      <vt:lpstr>Canva Sans</vt:lpstr>
      <vt:lpstr>Arial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Graduation Project</dc:title>
  <cp:lastModifiedBy>Abdelrahman mohamed mohamed</cp:lastModifiedBy>
  <cp:revision>8</cp:revision>
  <dcterms:created xsi:type="dcterms:W3CDTF">2006-08-16T00:00:00Z</dcterms:created>
  <dcterms:modified xsi:type="dcterms:W3CDTF">2025-06-08T14:45:43Z</dcterms:modified>
  <dc:identifier>DAGpc_FKVqg</dc:identifier>
</cp:coreProperties>
</file>